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Default Extension="jpeg" ContentType="image/jpeg"/>
  <Default Extension="gif" ContentType="image/gif"/>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Lst>
  <p:sldSz cx="12192000" cy="6858000"/>
  <p:notesSz cx="6858000" cy="9144000"/>
</p:presentation>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Content 2"/>
          <p:cNvSpPr/>
          <p:nvPr/>
        </p:nvSpPr>
        <p:spPr>
          <a:xfrm>
            <a:off x="838200" y="1825625"/>
            <a:ext cx="10515600" cy="46905300"/>
          </a:xfrm>
          <a:prstGeom prst="rect">
            <a:avLst/>
          </a:prstGeom>
        </p:spPr>
        <p:txBody>
          <a:bodyPr wrap="square">
            <a:normAutofit/>
          </a:bodyPr>
          <a:lstStyle/>
          <a:p>
            <a:pPr lvl="0">
              <a:buNone/>
            </a:pPr>
            <a:r>
              <a:rPr sz="1800" b="1"/>
              <a:t>1. What is the Application About?</a:t>
            </a:r>
          </a:p>
          <a:p>
            <a:pPr lvl="0">
              <a:buNone/>
            </a:pPr>
            <a:r>
              <a:rPr sz="1800" b="1"/>
              <a:t>KEY MESSAGE: A centralized digital platform connecting work authorization, safety controls, execution, and closure.</a:t>
            </a:r>
          </a:p>
          <a:p>
            <a:pPr lvl="0">
              <a:buNone/>
            </a:pPr>
            <a:r>
              <a:rPr sz="1800" b="1"/>
              <a:t>WORK AUTHORIZATION</a:t>
            </a:r>
          </a:p>
          <a:p>
            <a:pPr lvl="0">
              <a:buNone/>
            </a:pPr>
            <a:r>
              <a:rPr sz="1800"/>
              <a:t>Formal clearance before tools touch site</a:t>
            </a:r>
          </a:p>
          <a:p>
            <a:pPr lvl="0">
              <a:buNone/>
            </a:pPr>
            <a:r>
              <a:rPr sz="1800" b="1"/>
              <a:t>SAFETY CONTROL</a:t>
            </a:r>
          </a:p>
          <a:p>
            <a:pPr lvl="0">
              <a:buNone/>
            </a:pPr>
            <a:r>
              <a:rPr sz="1800"/>
              <a:t>Physical LOTOTO &amp; environmental isolation</a:t>
            </a:r>
          </a:p>
          <a:p>
            <a:pPr lvl="0">
              <a:buNone/>
            </a:pPr>
            <a:r>
              <a:rPr sz="1800" b="1"/>
              <a:t>OPERATIONAL VISIBILITY</a:t>
            </a:r>
          </a:p>
          <a:p>
            <a:pPr lvl="0">
              <a:buNone/>
            </a:pPr>
            <a:r>
              <a:rPr sz="1800"/>
              <a:t>Live map of active jobs &amp; conflict risks</a:t>
            </a:r>
          </a:p>
          <a:p>
            <a:pPr lvl="0">
              <a:buNone/>
            </a:pPr>
            <a:r>
              <a:rPr sz="1800" b="1"/>
              <a:t>CLEAR ACCOUNTABILITY</a:t>
            </a:r>
          </a:p>
          <a:p>
            <a:pPr lvl="0">
              <a:buNone/>
            </a:pPr>
            <a:r>
              <a:rPr sz="1800"/>
              <a:t>Named multi-party sign-offs &amp; custody</a:t>
            </a:r>
          </a:p>
          <a:p>
            <a:pPr lvl="0">
              <a:buNone/>
            </a:pPr>
            <a:r>
              <a:rPr sz="1800" b="1"/>
              <a:t>FULL TRACEABILITY</a:t>
            </a:r>
          </a:p>
          <a:p>
            <a:pPr lvl="0">
              <a:buNone/>
            </a:pPr>
            <a:r>
              <a:rPr sz="1800"/>
              <a:t>Unbroken audit record from draft to close</a:t>
            </a:r>
          </a:p>
          <a:p>
            <a:pPr lvl="0">
              <a:buNone/>
            </a:pPr>
            <a:r>
              <a:rPr sz="1800" b="1"/>
              <a:t>CENTRAL OPERATIONAL LIFECYCLE ENGINE</a:t>
            </a:r>
          </a:p>
          <a:p>
            <a:pPr lvl="0">
              <a:buNone/>
            </a:pPr>
            <a:r>
              <a:rPr sz="1800" b="1"/>
              <a:t>SIX ACCOUNTABLE ROLES (NO BLIND SPOTS)</a:t>
            </a:r>
          </a:p>
          <a:p>
            <a:pPr lvl="0">
              <a:buNone/>
            </a:pPr>
            <a:r>
              <a:rPr sz="1800" b="1"/>
              <a:t>• Platform &amp; Org Admin: </a:t>
            </a:r>
            <a:r>
              <a:rPr sz="1800"/>
              <a:t>Governs organizations, system policies, user access &amp; billing</a:t>
            </a:r>
          </a:p>
          <a:p>
            <a:pPr lvl="0">
              <a:buNone/>
            </a:pPr>
            <a:r>
              <a:rPr sz="1800" b="1"/>
              <a:t>• Job Issuer (Area Owner): </a:t>
            </a:r>
            <a:r>
              <a:rPr sz="1800"/>
              <a:t>Inspects plant, verifies LOTOTO zero-energy, authorizes permit</a:t>
            </a:r>
          </a:p>
          <a:p>
            <a:pPr lvl="0">
              <a:buNone/>
            </a:pPr>
            <a:r>
              <a:rPr sz="1800" b="1"/>
              <a:t>• Safety Officer (EHS): </a:t>
            </a:r>
            <a:r>
              <a:rPr sz="1800"/>
              <a:t>Performs gas testing, verifies PPE, exercises Stop Work Authority</a:t>
            </a:r>
          </a:p>
          <a:p>
            <a:pPr lvl="0">
              <a:buNone/>
            </a:pPr>
            <a:r>
              <a:rPr sz="1800" b="1"/>
              <a:t>• Permit Receiver / Lead: </a:t>
            </a:r>
            <a:r>
              <a:rPr sz="1800"/>
              <a:t>Directs job site, completes Toolbox Talk (TBT), manages crew</a:t>
            </a:r>
          </a:p>
          <a:p>
            <a:pPr lvl="0">
              <a:buNone/>
            </a:pPr>
            <a:r>
              <a:rPr sz="1800" b="1"/>
              <a:t>• Operator / Crew Member: </a:t>
            </a:r>
            <a:r>
              <a:rPr sz="1800"/>
              <a:t>Executes task, submits field evidence, logs shift progress</a:t>
            </a:r>
          </a:p>
          <a:p>
            <a:pPr lvl="0">
              <a:buNone/>
            </a:pPr>
            <a:r>
              <a:rPr sz="1800" b="1"/>
              <a:t>• Viewer / Auditor: </a:t>
            </a:r>
            <a:r>
              <a:rPr sz="1800"/>
              <a:t>Monitors compliance, tracks live permit registry and reports</a:t>
            </a:r>
          </a:p>
          <a:p>
            <a:pPr lvl="0">
              <a:buNone/>
            </a:pPr>
            <a:r>
              <a:rPr sz="1800" b="1"/>
              <a:t>AUTHORIZE</a:t>
            </a:r>
          </a:p>
          <a:p>
            <a:pPr lvl="0">
              <a:buNone/>
            </a:pPr>
            <a:r>
              <a:rPr sz="1800"/>
              <a:t>• Digital Permit Drafting</a:t>
            </a:r>
          </a:p>
          <a:p>
            <a:pPr lvl="0">
              <a:buNone/>
            </a:pPr>
            <a:r>
              <a:rPr sz="1800"/>
              <a:t>• Multi-tier Approval Queue</a:t>
            </a:r>
          </a:p>
          <a:p>
            <a:pPr lvl="0">
              <a:buNone/>
            </a:pPr>
            <a:r>
              <a:rPr sz="1800"/>
              <a:t>• Approved Work Execution</a:t>
            </a:r>
          </a:p>
          <a:p>
            <a:pPr lvl="0">
              <a:buNone/>
            </a:pPr>
            <a:r>
              <a:rPr sz="1800" b="1"/>
              <a:t>CONTROL</a:t>
            </a:r>
          </a:p>
          <a:p>
            <a:pPr lvl="0">
              <a:buNone/>
            </a:pPr>
            <a:r>
              <a:rPr sz="1800"/>
              <a:t>• LOTOTO Energy Isolation</a:t>
            </a:r>
          </a:p>
          <a:p>
            <a:pPr lvl="0">
              <a:buNone/>
            </a:pPr>
            <a:r>
              <a:rPr sz="1800"/>
              <a:t>• Pre-Task Briefing (TBT)</a:t>
            </a:r>
          </a:p>
          <a:p>
            <a:pPr lvl="0">
              <a:buNone/>
            </a:pPr>
            <a:r>
              <a:rPr sz="1800"/>
              <a:t>• Verified Work Closure</a:t>
            </a:r>
          </a:p>
          <a:p>
            <a:pPr lvl="0">
              <a:buNone/>
            </a:pPr>
            <a:r>
              <a:rPr sz="1800" b="1"/>
              <a:t>MONITOR</a:t>
            </a:r>
          </a:p>
          <a:p>
            <a:pPr lvl="0">
              <a:buNone/>
            </a:pPr>
            <a:r>
              <a:rPr sz="1800"/>
              <a:t>• SIMOPS Clash Detection</a:t>
            </a:r>
          </a:p>
          <a:p>
            <a:pPr lvl="0">
              <a:buNone/>
            </a:pPr>
            <a:r>
              <a:rPr sz="1800"/>
              <a:t>• Live Incident / Near-Miss Log</a:t>
            </a:r>
          </a:p>
          <a:p>
            <a:pPr lvl="0">
              <a:buNone/>
            </a:pPr>
            <a:r>
              <a:rPr sz="1800"/>
              <a:t>• Real-Time Audit Analytics</a:t>
            </a:r>
          </a:p>
          <a:p>
            <a:pPr lvl="0">
              <a:buNone/>
            </a:pPr>
            <a:r>
              <a:rPr sz="1800" b="1"/>
              <a:t>NOT JUST A FORM-FILLING TOOL — AN INTEGRATED OPERATIONAL CONTROL SYSTEM</a:t>
            </a:r>
          </a:p>
          <a:p>
            <a:pPr lvl="0">
              <a:buNone/>
            </a:pPr>
            <a:r>
              <a:rPr sz="1800"/>
              <a:t>Traditional paper permits isolate work in file binders. This application synchronizes permit requests with live plant conditions, verifies physical padlocks and gas tests, actively alerts on conflicting trades, and delivers an ironclad legal audit trail.</a:t>
            </a:r>
          </a:p>
          <a:p>
            <a:pPr lvl="0">
              <a:buNone/>
            </a:pPr>
            <a:r>
              <a:rPr sz="1800" b="1"/>
              <a:t>OPERATIONAL TAKEAWAY: PTW acts as the central operational record connecting work authorization, safety controls, execution, and closure.</a:t>
            </a:r>
          </a:p>
          <a:p>
            <a:pPr lvl="0">
              <a:buNone/>
            </a:pPr>
            <a:r>
              <a:rPr sz="1800" b="1"/>
              <a:t>2. Features of the Application</a:t>
            </a:r>
          </a:p>
          <a:p>
            <a:pPr lvl="0">
              <a:buNone/>
            </a:pPr>
            <a:r>
              <a:rPr sz="1800" b="1"/>
              <a:t>KEY MESSAGE: Organized into 4 core business pillars — delivering complete operational control across the entire lifecycle.</a:t>
            </a:r>
          </a:p>
          <a:p>
            <a:pPr lvl="0">
              <a:buNone/>
            </a:pPr>
            <a:r>
              <a:rPr sz="1800" b="1"/>
              <a:t>• Permit Creation &amp; Scope</a:t>
            </a:r>
          </a:p>
          <a:p>
            <a:pPr lvl="0">
              <a:buNone/>
            </a:pPr>
            <a:r>
              <a:rPr sz="1800"/>
              <a:t> Structured wizard for Hot Work, Cold Work, Confined Space, Electrical &amp; Height.</a:t>
            </a:r>
          </a:p>
          <a:p>
            <a:pPr lvl="0">
              <a:buNone/>
            </a:pPr>
            <a:r>
              <a:rPr sz="1800" b="1"/>
              <a:t>• Draft Management</a:t>
            </a:r>
          </a:p>
          <a:p>
            <a:pPr lvl="0">
              <a:buNone/>
            </a:pPr>
            <a:r>
              <a:rPr sz="1800"/>
              <a:t> Auto-saves drafts with scope details, JSA forms, and equipment checklists.</a:t>
            </a:r>
          </a:p>
          <a:p>
            <a:pPr lvl="0">
              <a:buNone/>
            </a:pPr>
            <a:r>
              <a:rPr sz="1800" b="1"/>
              <a:t>• Submission Engine</a:t>
            </a:r>
          </a:p>
          <a:p>
            <a:pPr lvl="0">
              <a:buNone/>
            </a:pPr>
            <a:r>
              <a:rPr sz="1800"/>
              <a:t> Formal submittal routes request directly into designated area issuer queues.</a:t>
            </a:r>
          </a:p>
          <a:p>
            <a:pPr lvl="0">
              <a:buNone/>
            </a:pPr>
            <a:r>
              <a:rPr sz="1800" b="1"/>
              <a:t>• Approval &amp; Review Queue</a:t>
            </a:r>
          </a:p>
          <a:p>
            <a:pPr lvl="0">
              <a:buNone/>
            </a:pPr>
            <a:r>
              <a:rPr sz="1800"/>
              <a:t> Engineers review plant impact, energy sources, and concurrent work.</a:t>
            </a:r>
          </a:p>
          <a:p>
            <a:pPr lvl="0">
              <a:buNone/>
            </a:pPr>
            <a:r>
              <a:rPr sz="1800" b="1"/>
              <a:t>• Approve / Defer Decisions</a:t>
            </a:r>
          </a:p>
          <a:p>
            <a:pPr lvl="0">
              <a:buNone/>
            </a:pPr>
            <a:r>
              <a:rPr sz="1800"/>
              <a:t> Direct sign-off or deferral requesting specific safety clarifications.</a:t>
            </a:r>
          </a:p>
          <a:p>
            <a:pPr lvl="0">
              <a:buNone/>
            </a:pPr>
            <a:r>
              <a:rPr sz="1800" b="1"/>
              <a:t>• Resubmission Tracking</a:t>
            </a:r>
          </a:p>
          <a:p>
            <a:pPr lvl="0">
              <a:buNone/>
            </a:pPr>
            <a:r>
              <a:rPr sz="1800"/>
              <a:t> Tracks modifications and resubmissions without losing original notes.</a:t>
            </a:r>
          </a:p>
          <a:p>
            <a:pPr lvl="0">
              <a:buNone/>
            </a:pPr>
            <a:r>
              <a:rPr sz="1800" b="1"/>
              <a:t>1. WORK AUTHORIZATION</a:t>
            </a:r>
          </a:p>
          <a:p>
            <a:pPr lvl="0">
              <a:buNone/>
            </a:pPr>
            <a:r>
              <a:rPr sz="1800" b="1"/>
              <a:t>• LOTOTO Plans &amp; Logs</a:t>
            </a:r>
          </a:p>
          <a:p>
            <a:pPr lvl="0">
              <a:buNone/>
            </a:pPr>
            <a:r>
              <a:rPr sz="1800"/>
              <a:t> Digital registry for lock padlocks, tagout tags, and zero-energy circuit checks.</a:t>
            </a:r>
          </a:p>
          <a:p>
            <a:pPr lvl="0">
              <a:buNone/>
            </a:pPr>
            <a:r>
              <a:rPr sz="1800" b="1"/>
              <a:t>• SIMOPS Conflict Monitoring</a:t>
            </a:r>
          </a:p>
          <a:p>
            <a:pPr lvl="0">
              <a:buNone/>
            </a:pPr>
            <a:r>
              <a:rPr sz="1800"/>
              <a:t> Active screening of co-located jobs to stop vertical or horizontal clashes.</a:t>
            </a:r>
          </a:p>
          <a:p>
            <a:pPr lvl="0">
              <a:buNone/>
            </a:pPr>
            <a:r>
              <a:rPr sz="1800" b="1"/>
              <a:t>• Environmental Safety Controls</a:t>
            </a:r>
          </a:p>
          <a:p>
            <a:pPr lvl="0">
              <a:buNone/>
            </a:pPr>
            <a:r>
              <a:rPr sz="1800"/>
              <a:t> Gas testing verification (LEL, O2, toxic), fire watch, and protective netting.</a:t>
            </a:r>
          </a:p>
          <a:p>
            <a:pPr lvl="0">
              <a:buNone/>
            </a:pPr>
            <a:r>
              <a:rPr sz="1800" b="1"/>
              <a:t>• Incident Reporting</a:t>
            </a:r>
          </a:p>
          <a:p>
            <a:pPr lvl="0">
              <a:buNone/>
            </a:pPr>
            <a:r>
              <a:rPr sz="1800"/>
              <a:t> Immediate field logging of work-related events and equipment hazards.</a:t>
            </a:r>
          </a:p>
          <a:p>
            <a:pPr lvl="0">
              <a:buNone/>
            </a:pPr>
            <a:r>
              <a:rPr sz="1800" b="1"/>
              <a:t>• Near-Miss Tracking</a:t>
            </a:r>
          </a:p>
          <a:p>
            <a:pPr lvl="0">
              <a:buNone/>
            </a:pPr>
            <a:r>
              <a:rPr sz="1800"/>
              <a:t> Proactive capture of close calls before they turn into recordable injuries.</a:t>
            </a:r>
          </a:p>
          <a:p>
            <a:pPr lvl="0">
              <a:buNone/>
            </a:pPr>
            <a:r>
              <a:rPr sz="1800" b="1"/>
              <a:t>• Unsafe-Condition Alerts</a:t>
            </a:r>
          </a:p>
          <a:p>
            <a:pPr lvl="0">
              <a:buNone/>
            </a:pPr>
            <a:r>
              <a:rPr sz="1800"/>
              <a:t> Instant hazard escalation with site photos and location tags.</a:t>
            </a:r>
          </a:p>
          <a:p>
            <a:pPr lvl="0">
              <a:buNone/>
            </a:pPr>
            <a:r>
              <a:rPr sz="1800" b="1"/>
              <a:t>2. SAFETY &amp; CONTROLS</a:t>
            </a:r>
          </a:p>
          <a:p>
            <a:pPr lvl="0">
              <a:buNone/>
            </a:pPr>
            <a:r>
              <a:rPr sz="1800" b="1"/>
              <a:t>• Approved Work Execution</a:t>
            </a:r>
          </a:p>
          <a:p>
            <a:pPr lvl="0">
              <a:buNone/>
            </a:pPr>
            <a:r>
              <a:rPr sz="1800"/>
              <a:t> Activation only upon successful physical inspection and daily validation.</a:t>
            </a:r>
          </a:p>
          <a:p>
            <a:pPr lvl="0">
              <a:buNone/>
            </a:pPr>
            <a:r>
              <a:rPr sz="1800" b="1"/>
              <a:t>• Live Progress Updates</a:t>
            </a:r>
          </a:p>
          <a:p>
            <a:pPr lvl="0">
              <a:buNone/>
            </a:pPr>
            <a:r>
              <a:rPr sz="1800"/>
              <a:t> Field teams log real-time task milestones and shift handover status.</a:t>
            </a:r>
          </a:p>
          <a:p>
            <a:pPr lvl="0">
              <a:buNone/>
            </a:pPr>
            <a:r>
              <a:rPr sz="1800" b="1"/>
              <a:t>• Photo &amp; Evidence Upload</a:t>
            </a:r>
          </a:p>
          <a:p>
            <a:pPr lvl="0">
              <a:buNone/>
            </a:pPr>
            <a:r>
              <a:rPr sz="1800"/>
              <a:t> Direct attachment of isolation certificates, gas logs, and site photos.</a:t>
            </a:r>
          </a:p>
          <a:p>
            <a:pPr lvl="0">
              <a:buNone/>
            </a:pPr>
            <a:r>
              <a:rPr sz="1800" b="1"/>
              <a:t>• Tamper-Proof Audit History</a:t>
            </a:r>
          </a:p>
          <a:p>
            <a:pPr lvl="0">
              <a:buNone/>
            </a:pPr>
            <a:r>
              <a:rPr sz="1800"/>
              <a:t> Time-stamped event log recording every status change and signature.</a:t>
            </a:r>
          </a:p>
          <a:p>
            <a:pPr lvl="0">
              <a:buNone/>
            </a:pPr>
            <a:r>
              <a:rPr sz="1800" b="1"/>
              <a:t>• Suspend Work Protocol</a:t>
            </a:r>
          </a:p>
          <a:p>
            <a:pPr lvl="0">
              <a:buNone/>
            </a:pPr>
            <a:r>
              <a:rPr sz="1800"/>
              <a:t> Instant freeze of permits during bad weather, alarms, or gas leaks.</a:t>
            </a:r>
          </a:p>
          <a:p>
            <a:pPr lvl="0">
              <a:buNone/>
            </a:pPr>
            <a:r>
              <a:rPr sz="1800" b="1"/>
              <a:t>• Verify &amp; Final Closure</a:t>
            </a:r>
          </a:p>
          <a:p>
            <a:pPr lvl="0">
              <a:buNone/>
            </a:pPr>
            <a:r>
              <a:rPr sz="1800"/>
              <a:t> Joint site inspection to confirm tool removal, de-isolation, and handback.</a:t>
            </a:r>
          </a:p>
          <a:p>
            <a:pPr lvl="0">
              <a:buNone/>
            </a:pPr>
            <a:r>
              <a:rPr sz="1800" b="1"/>
              <a:t>3. EXECUTION &amp; TRACEABILITY</a:t>
            </a:r>
          </a:p>
          <a:p>
            <a:pPr lvl="0">
              <a:buNone/>
            </a:pPr>
            <a:r>
              <a:rPr sz="1800" b="1"/>
              <a:t>• Workforce Management</a:t>
            </a:r>
          </a:p>
          <a:p>
            <a:pPr lvl="0">
              <a:buNone/>
            </a:pPr>
            <a:r>
              <a:rPr sz="1800"/>
              <a:t> Tracks worker credentials, contractor competencies, and trade roles.</a:t>
            </a:r>
          </a:p>
          <a:p>
            <a:pPr lvl="0">
              <a:buNone/>
            </a:pPr>
            <a:r>
              <a:rPr sz="1800" b="1"/>
              <a:t>• Role-Based Access Control</a:t>
            </a:r>
          </a:p>
          <a:p>
            <a:pPr lvl="0">
              <a:buNone/>
            </a:pPr>
            <a:r>
              <a:rPr sz="1800"/>
              <a:t> Granular permissions for Admins, Issuers, Safety Officers, and Crews.</a:t>
            </a:r>
          </a:p>
          <a:p>
            <a:pPr lvl="0">
              <a:buNone/>
            </a:pPr>
            <a:r>
              <a:rPr sz="1800" b="1"/>
              <a:t>• Org &amp; Site Configuration</a:t>
            </a:r>
          </a:p>
          <a:p>
            <a:pPr lvl="0">
              <a:buNone/>
            </a:pPr>
            <a:r>
              <a:rPr sz="1800"/>
              <a:t> Multi-tenant plant setup, custom approval rules, and shift schedules.</a:t>
            </a:r>
          </a:p>
          <a:p>
            <a:pPr lvl="0">
              <a:buNone/>
            </a:pPr>
            <a:r>
              <a:rPr sz="1800" b="1"/>
              <a:t>• Operational KPIs &amp; Metrics</a:t>
            </a:r>
          </a:p>
          <a:p>
            <a:pPr lvl="0">
              <a:buNone/>
            </a:pPr>
            <a:r>
              <a:rPr sz="1800"/>
              <a:t> Executive dashboards for active permits, approval lead time, and clashes.</a:t>
            </a:r>
          </a:p>
          <a:p>
            <a:pPr lvl="0">
              <a:buNone/>
            </a:pPr>
            <a:r>
              <a:rPr sz="1800" b="1"/>
              <a:t>• Compliance Audit Reports</a:t>
            </a:r>
          </a:p>
          <a:p>
            <a:pPr lvl="0">
              <a:buNone/>
            </a:pPr>
            <a:r>
              <a:rPr sz="1800"/>
              <a:t> Instant PDF/Excel exports for OSHA, ISO 45001, and corporate audits.</a:t>
            </a:r>
          </a:p>
          <a:p>
            <a:pPr lvl="0">
              <a:buNone/>
            </a:pPr>
            <a:r>
              <a:rPr sz="1800" b="1"/>
              <a:t>• Billing &amp; Subscription</a:t>
            </a:r>
          </a:p>
          <a:p>
            <a:pPr lvl="0">
              <a:buNone/>
            </a:pPr>
            <a:r>
              <a:rPr sz="1800"/>
              <a:t> Transparent management of organizational licenses and usage tiers.</a:t>
            </a:r>
          </a:p>
          <a:p>
            <a:pPr lvl="0">
              <a:buNone/>
            </a:pPr>
            <a:r>
              <a:rPr sz="1800" b="1"/>
              <a:t>4. MANAGEMENT &amp; VISIBILITY</a:t>
            </a:r>
          </a:p>
          <a:p>
            <a:pPr lvl="0">
              <a:buNone/>
            </a:pPr>
            <a:r>
              <a:rPr sz="1800" b="1"/>
              <a:t>OPERATIONAL TAKEAWAY: One platform → From work authorization to operational reporting.</a:t>
            </a:r>
          </a:p>
          <a:p>
            <a:pPr lvl="0">
              <a:buNone/>
            </a:pPr>
            <a:r>
              <a:rPr sz="1800" b="1"/>
              <a:t>3. Why is this Application Required?</a:t>
            </a:r>
          </a:p>
          <a:p>
            <a:pPr lvl="0">
              <a:buNone/>
            </a:pPr>
            <a:r>
              <a:rPr sz="1800" b="1"/>
              <a:t>KEY MESSAGE: Provides a structured digital process to support safer, accountable, and more controlled work operations.</a:t>
            </a:r>
          </a:p>
          <a:p>
            <a:pPr lvl="0">
              <a:buNone/>
            </a:pPr>
            <a:r>
              <a:rPr sz="1800" b="1"/>
              <a:t>WITHOUT CENTRALIZED CONTROL (PAPER / SILOED)</a:t>
            </a:r>
          </a:p>
          <a:p>
            <a:pPr lvl="0">
              <a:buNone/>
            </a:pPr>
            <a:r>
              <a:rPr sz="1800" b="1"/>
              <a:t>Fragmented Work Info → Limited Plant Visibility → Higher Coordination Risk</a:t>
            </a:r>
          </a:p>
          <a:p>
            <a:pPr lvl="0">
              <a:buNone/>
            </a:pPr>
            <a:r>
              <a:rPr sz="1800"/>
              <a:t>Paper forms sit in physical folders; control rooms cannot verify active trade clashes; energy isolations lack tamper-proof digital records; safety talks are easily bypassed.</a:t>
            </a:r>
          </a:p>
          <a:p>
            <a:pPr lvl="0">
              <a:buNone/>
            </a:pPr>
            <a:r>
              <a:rPr sz="1800" b="1"/>
              <a:t>WITH PTW APPLICATION (CONTROLLED DIGITAL ECOSYSTEM)</a:t>
            </a:r>
          </a:p>
          <a:p>
            <a:pPr lvl="0">
              <a:buNone/>
            </a:pPr>
            <a:r>
              <a:rPr sz="1800" b="1"/>
              <a:t>Structured Authorization → Safety Controls → Execution Tracking → Traceability</a:t>
            </a:r>
          </a:p>
          <a:p>
            <a:pPr lvl="0">
              <a:buNone/>
            </a:pPr>
            <a:r>
              <a:rPr sz="1800"/>
              <a:t>Enforces formal authorization before tools touch plant; integrates LOTOTO locks &amp; SIMOPS clash detection; tracks real-time execution; delivers 100% audit-ready operational transparency.</a:t>
            </a:r>
          </a:p>
          <a:p>
            <a:pPr lvl="0">
              <a:buNone/>
            </a:pPr>
            <a:r>
              <a:rPr sz="1800" b="1"/>
              <a:t>1. CONTROLLED WORK</a:t>
            </a:r>
          </a:p>
          <a:p>
            <a:pPr lvl="0">
              <a:buNone/>
            </a:pPr>
            <a:r>
              <a:rPr sz="1800" b="1"/>
              <a:t>Structured Permit Lifecycle</a:t>
            </a:r>
          </a:p>
          <a:p>
            <a:pPr lvl="0">
              <a:buNone/>
            </a:pPr>
            <a:r>
              <a:rPr sz="1800"/>
              <a:t>Guarantees that high-hazard jobs (welding, confined space, electrical) cannot proceed without prerequisite JSAs, equipment isolation, and designated issuer sign-off.</a:t>
            </a:r>
          </a:p>
          <a:p>
            <a:pPr lvl="0">
              <a:buNone/>
            </a:pPr>
            <a:r>
              <a:rPr sz="1800" b="1"/>
              <a:t>2. SAFER OPERATIONS</a:t>
            </a:r>
          </a:p>
          <a:p>
            <a:pPr lvl="0">
              <a:buNone/>
            </a:pPr>
            <a:r>
              <a:rPr sz="1800" b="1"/>
              <a:t>Physical Energy &amp; Zone Safety</a:t>
            </a:r>
          </a:p>
          <a:p>
            <a:pPr lvl="0">
              <a:buNone/>
            </a:pPr>
            <a:r>
              <a:rPr sz="1800"/>
              <a:t>Embeds Lockout/Tagout (LOTOTO) verification and SIMOPS conflict monitoring directly into daily operations, preventing unintended equipment energization or toxic gas exposures.</a:t>
            </a:r>
          </a:p>
          <a:p>
            <a:pPr lvl="0">
              <a:buNone/>
            </a:pPr>
            <a:r>
              <a:rPr sz="1800" b="1"/>
              <a:t>3. CLEAR ACCOUNTABILITY</a:t>
            </a:r>
          </a:p>
          <a:p>
            <a:pPr lvl="0">
              <a:buNone/>
            </a:pPr>
            <a:r>
              <a:rPr sz="1800" b="1"/>
              <a:t>Role-Based Ownership</a:t>
            </a:r>
          </a:p>
          <a:p>
            <a:pPr lvl="0">
              <a:buNone/>
            </a:pPr>
            <a:r>
              <a:rPr sz="1800"/>
              <a:t>Removes ambiguity. Six distinct roles ensure that Job Issuers, Receivers, Safety Officers, and Admins have unmistakable responsibilities and legal digital sign-offs.</a:t>
            </a:r>
          </a:p>
          <a:p>
            <a:pPr lvl="0">
              <a:buNone/>
            </a:pPr>
            <a:r>
              <a:rPr sz="1800" b="1"/>
              <a:t>4. OPERATIONAL VISIBILITY</a:t>
            </a:r>
          </a:p>
          <a:p>
            <a:pPr lvl="0">
              <a:buNone/>
            </a:pPr>
            <a:r>
              <a:rPr sz="1800" b="1"/>
              <a:t>Real-Time Single Pane of Glass</a:t>
            </a:r>
          </a:p>
          <a:p>
            <a:pPr lvl="0">
              <a:buNone/>
            </a:pPr>
            <a:r>
              <a:rPr sz="1800"/>
              <a:t>Provides managers and control room operators live visibility into open permits, active crews, pending approvals, and worksite status across multiple plant units.</a:t>
            </a:r>
          </a:p>
          <a:p>
            <a:pPr lvl="0">
              <a:buNone/>
            </a:pPr>
            <a:r>
              <a:rPr sz="1800" b="1"/>
              <a:t>5. TRACEABILITY</a:t>
            </a:r>
          </a:p>
          <a:p>
            <a:pPr lvl="0">
              <a:buNone/>
            </a:pPr>
            <a:r>
              <a:rPr sz="1800" b="1"/>
              <a:t>Tamper-Proof Audit Trail</a:t>
            </a:r>
          </a:p>
          <a:p>
            <a:pPr lvl="0">
              <a:buNone/>
            </a:pPr>
            <a:r>
              <a:rPr sz="1800"/>
              <a:t>Time-stamped logs, gas measurement logs, mandatory Toolbox Talk (TBT) rosters, and photo evidence preserve an immutable historical record for ISO 45001 &amp; OSHA.</a:t>
            </a:r>
          </a:p>
          <a:p>
            <a:pPr lvl="0">
              <a:buNone/>
            </a:pPr>
            <a:r>
              <a:rPr sz="1800" b="1"/>
              <a:t>6. DATA-DRIVEN MANAGEMENT</a:t>
            </a:r>
          </a:p>
          <a:p>
            <a:pPr lvl="0">
              <a:buNone/>
            </a:pPr>
            <a:r>
              <a:rPr sz="1800" b="1"/>
              <a:t>KPIs &amp; Trend Insights</a:t>
            </a:r>
          </a:p>
          <a:p>
            <a:pPr lvl="0">
              <a:buNone/>
            </a:pPr>
            <a:r>
              <a:rPr sz="1800"/>
              <a:t>Analytics turn raw safety records into actionable insights: tracking approval bottlenecks, recurring near-miss hotspots, contractor safety metrics, and permit closure rates.</a:t>
            </a:r>
          </a:p>
          <a:p>
            <a:pPr lvl="0">
              <a:buNone/>
            </a:pPr>
            <a:r>
              <a:rPr sz="1800" b="1"/>
              <a:t>OPERATIONAL TAKEAWAY: Provides a structured digital process to support safer, accountable, and more controlled work operations.</a:t>
            </a:r>
          </a:p>
          <a:p>
            <a:pPr lvl="0">
              <a:buNone/>
            </a:pPr>
            <a:r>
              <a:rPr sz="1800" b="1"/>
              <a:t>4. End-to-End Application Workflow</a:t>
            </a:r>
          </a:p>
          <a:p>
            <a:pPr lvl="0">
              <a:buNone/>
            </a:pPr>
            <a:r>
              <a:rPr sz="1800" b="1"/>
              <a:t>KEY MESSAGE: From initial permit drafting to final archive: An 8-stage visual lifecycle with clear status transitions.</a:t>
            </a:r>
          </a:p>
          <a:p>
            <a:pPr lvl="0">
              <a:buNone/>
            </a:pPr>
            <a:r>
              <a:rPr sz="1800" b="1"/>
              <a:t>OFFICIAL STATUS TRANSITIONS: DRAFT → PENDING APPROVAL → APPROVED → EXECUTION → CLOSED [SIDE-BRANCH: DEFERRED / RESUBMIT]</a:t>
            </a:r>
          </a:p>
          <a:p>
            <a:pPr lvl="0">
              <a:buNone/>
            </a:pPr>
            <a:r>
              <a:rPr sz="1800" b="1"/>
              <a:t>Permit Draft</a:t>
            </a:r>
          </a:p>
          <a:p>
            <a:pPr lvl="0">
              <a:buNone/>
            </a:pPr>
            <a:r>
              <a:rPr sz="1800"/>
              <a:t>Select Work Type:</a:t>
            </a:r>
            <a:br/>
            <a:r>
              <a:rPr sz="1800"/>
              <a:t>• Hot / Cold Work</a:t>
            </a:r>
            <a:br/>
            <a:r>
              <a:rPr sz="1800"/>
              <a:t>• Confined Space</a:t>
            </a:r>
            <a:br/>
            <a:r>
              <a:rPr sz="1800"/>
              <a:t>• Electrical / Height</a:t>
            </a:r>
          </a:p>
          <a:p>
            <a:pPr lvl="0">
              <a:buNone/>
            </a:pPr>
            <a:r>
              <a:rPr sz="1800" b="1"/>
              <a:t>1. CREATE</a:t>
            </a:r>
          </a:p>
          <a:p>
            <a:pPr lvl="0">
              <a:buNone/>
            </a:pPr>
            <a:r>
              <a:rPr sz="1800" b="1"/>
              <a:t>Scope &amp; Crew</a:t>
            </a:r>
          </a:p>
          <a:p>
            <a:pPr lvl="0">
              <a:buNone/>
            </a:pPr>
            <a:r>
              <a:rPr sz="1800"/>
              <a:t>Define Details:</a:t>
            </a:r>
            <a:br/>
            <a:r>
              <a:rPr sz="1800"/>
              <a:t>• Location &amp; Date</a:t>
            </a:r>
            <a:br/>
            <a:r>
              <a:rPr sz="1800"/>
              <a:t>• Isolation Plan</a:t>
            </a:r>
            <a:br/>
            <a:r>
              <a:rPr sz="1800"/>
              <a:t>• Crew Credentials</a:t>
            </a:r>
          </a:p>
          <a:p>
            <a:pPr lvl="0">
              <a:buNone/>
            </a:pPr>
            <a:r>
              <a:rPr sz="1800" b="1"/>
              <a:t>2. PLAN</a:t>
            </a:r>
          </a:p>
          <a:p>
            <a:pPr lvl="0">
              <a:buNone/>
            </a:pPr>
            <a:r>
              <a:rPr sz="1800" b="1"/>
              <a:t>Review &amp; Send</a:t>
            </a:r>
          </a:p>
          <a:p>
            <a:pPr lvl="0">
              <a:buNone/>
            </a:pPr>
            <a:r>
              <a:rPr sz="1800"/>
              <a:t>Formal Check:</a:t>
            </a:r>
            <a:br/>
            <a:r>
              <a:rPr sz="1800"/>
              <a:t>• JSA Attachment</a:t>
            </a:r>
            <a:br/>
            <a:r>
              <a:rPr sz="1800"/>
              <a:t>• Pre-requisite checklist</a:t>
            </a:r>
            <a:br/>
            <a:r>
              <a:rPr sz="1800"/>
              <a:t>• Route to Area Queue</a:t>
            </a:r>
          </a:p>
          <a:p>
            <a:pPr lvl="0">
              <a:buNone/>
            </a:pPr>
            <a:r>
              <a:rPr sz="1800" b="1"/>
              <a:t>3. SUBMIT</a:t>
            </a:r>
          </a:p>
          <a:p>
            <a:pPr lvl="0">
              <a:buNone/>
            </a:pPr>
            <a:r>
              <a:rPr sz="1800" b="1"/>
              <a:t>Approval Queue</a:t>
            </a:r>
          </a:p>
          <a:p>
            <a:pPr lvl="0">
              <a:buNone/>
            </a:pPr>
            <a:r>
              <a:rPr sz="1800"/>
              <a:t>Decision Point:</a:t>
            </a:r>
            <a:br/>
            <a:r>
              <a:rPr sz="1800"/>
              <a:t>• APPROVE (Go to #5)</a:t>
            </a:r>
            <a:br/>
            <a:r>
              <a:rPr sz="1800"/>
              <a:t>• DEFER (Needs Clarif.)</a:t>
            </a:r>
            <a:br/>
            <a:r>
              <a:rPr sz="1800"/>
              <a:t>• Resubmit Loop</a:t>
            </a:r>
          </a:p>
          <a:p>
            <a:pPr lvl="0">
              <a:buNone/>
            </a:pPr>
            <a:r>
              <a:rPr sz="1800" b="1"/>
              <a:t>4. APPROVE</a:t>
            </a:r>
          </a:p>
          <a:p>
            <a:pPr lvl="0">
              <a:buNone/>
            </a:pPr>
            <a:r>
              <a:rPr sz="1800" b="1"/>
              <a:t>Safety Gates</a:t>
            </a:r>
          </a:p>
          <a:p>
            <a:pPr lvl="0">
              <a:buNone/>
            </a:pPr>
            <a:r>
              <a:rPr sz="1800"/>
              <a:t>Pre-Execution:</a:t>
            </a:r>
            <a:br/>
            <a:r>
              <a:rPr sz="1800"/>
              <a:t>• LOTOTO Padlocks</a:t>
            </a:r>
            <a:br/>
            <a:r>
              <a:rPr sz="1800"/>
              <a:t>• SIMOPS Deconflict</a:t>
            </a:r>
            <a:br/>
            <a:r>
              <a:rPr sz="1800"/>
              <a:t>• Gas Tests &amp; TBT Talk</a:t>
            </a:r>
          </a:p>
          <a:p>
            <a:pPr lvl="0">
              <a:buNone/>
            </a:pPr>
            <a:r>
              <a:rPr sz="1800" b="1"/>
              <a:t>5. CONTROL</a:t>
            </a:r>
          </a:p>
          <a:p>
            <a:pPr lvl="0">
              <a:buNone/>
            </a:pPr>
            <a:r>
              <a:rPr sz="1800" b="1"/>
              <a:t>Active Work</a:t>
            </a:r>
          </a:p>
          <a:p>
            <a:pPr lvl="0">
              <a:buNone/>
            </a:pPr>
            <a:r>
              <a:rPr sz="1800"/>
              <a:t>Site Activity:</a:t>
            </a:r>
            <a:br/>
            <a:r>
              <a:rPr sz="1800"/>
              <a:t>• Live Progress Logs</a:t>
            </a:r>
            <a:br/>
            <a:r>
              <a:rPr sz="1800"/>
              <a:t>• Daily Revalidation</a:t>
            </a:r>
            <a:br/>
            <a:r>
              <a:rPr sz="1800"/>
              <a:t>• Photo Evidence</a:t>
            </a:r>
          </a:p>
          <a:p>
            <a:pPr lvl="0">
              <a:buNone/>
            </a:pPr>
            <a:r>
              <a:rPr sz="1800" b="1"/>
              <a:t>6. EXECUTE</a:t>
            </a:r>
          </a:p>
          <a:p>
            <a:pPr lvl="0">
              <a:buNone/>
            </a:pPr>
            <a:r>
              <a:rPr sz="1800" b="1"/>
              <a:t>Completion</a:t>
            </a:r>
          </a:p>
          <a:p>
            <a:pPr lvl="0">
              <a:buNone/>
            </a:pPr>
            <a:r>
              <a:rPr sz="1800"/>
              <a:t>Site Handback:</a:t>
            </a:r>
            <a:br/>
            <a:r>
              <a:rPr sz="1800"/>
              <a:t>• Remove isolations</a:t>
            </a:r>
            <a:br/>
            <a:r>
              <a:rPr sz="1800"/>
              <a:t>• Housekeeping check</a:t>
            </a:r>
            <a:br/>
            <a:r>
              <a:rPr sz="1800"/>
              <a:t>• Verify &amp; Close Sign</a:t>
            </a:r>
          </a:p>
          <a:p>
            <a:pPr lvl="0">
              <a:buNone/>
            </a:pPr>
            <a:r>
              <a:rPr sz="1800" b="1"/>
              <a:t>7. VERIFY</a:t>
            </a:r>
          </a:p>
          <a:p>
            <a:pPr lvl="0">
              <a:buNone/>
            </a:pPr>
            <a:r>
              <a:rPr sz="1800" b="1"/>
              <a:t>Record &amp; KPI</a:t>
            </a:r>
          </a:p>
          <a:p>
            <a:pPr lvl="0">
              <a:buNone/>
            </a:pPr>
            <a:r>
              <a:rPr sz="1800"/>
              <a:t>Post-Job Analytics:</a:t>
            </a:r>
            <a:br/>
            <a:r>
              <a:rPr sz="1800"/>
              <a:t>• Audit Log Archive</a:t>
            </a:r>
            <a:br/>
            <a:r>
              <a:rPr sz="1800"/>
              <a:t>• KPI Reporting</a:t>
            </a:r>
            <a:br/>
            <a:r>
              <a:rPr sz="1800"/>
              <a:t>• Corporate Compliance</a:t>
            </a:r>
          </a:p>
          <a:p>
            <a:pPr lvl="0">
              <a:buNone/>
            </a:pPr>
            <a:r>
              <a:rPr sz="1800" b="1"/>
              <a:t>8. ARCHIVE</a:t>
            </a:r>
          </a:p>
          <a:p>
            <a:pPr lvl="0">
              <a:buNone/>
            </a:pPr>
            <a:r>
              <a:rPr sz="1800" b="1"/>
              <a:t>CRITICAL WORKFLOW CONTROL PATHS &amp; EXCEPTION HANDLING</a:t>
            </a:r>
          </a:p>
          <a:p>
            <a:pPr lvl="0">
              <a:buNone/>
            </a:pPr>
            <a:r>
              <a:rPr sz="1800"/>
              <a:t>• STAGE 4 DEFERRAL LOOP: If technical isolations or safety plans are incomplete, the Job Issuer selects 'DEFER' with mandatory clarification remarks. The permit reverts to Receiver for correction and structured resubmission without destroying history.</a:t>
            </a:r>
          </a:p>
          <a:p>
            <a:pPr lvl="0">
              <a:buNone/>
            </a:pPr>
            <a:r>
              <a:rPr sz="1800"/>
              <a:t>• STAGE 5 PRE-WORK SAFETY GATE: Approved permits CANNOT be activated until physical LOTOTO locks are in place, the SIMOPS matrix checks clear, and an on-site Safety Officer logs atmospheric tests (0.0% LEL, 20.9% O2) with a signed Toolbox Talk.</a:t>
            </a:r>
          </a:p>
          <a:p>
            <a:pPr lvl="0">
              <a:buNone/>
            </a:pPr>
            <a:r>
              <a:rPr sz="1800"/>
              <a:t>• STAGE 6 &amp; 7 REVALIDATION &amp; HANDBACK: Multi-day permits require daily morning re-signatures. Upon task completion, all tools are removed, padlocks unlocked, plant restored, and joint signatures executed before status moves to CLOSED.</a:t>
            </a:r>
          </a:p>
          <a:p>
            <a:pPr lvl="0">
              <a:buNone/>
            </a:pPr>
            <a:r>
              <a:rPr sz="1800" b="1"/>
              <a:t>OPERATIONAL TAKEAWAY: Permit is the central record connecting authorization, safety controls, execution, evidence, and closure.</a:t>
            </a:r>
          </a:p>
          <a:p>
            <a:pPr lvl="0">
              <a:buNone/>
            </a:pPr>
            <a:r>
              <a:rPr sz="1800" b="1"/>
              <a:t>5. SIMOPS &amp; Safety Incident Protocol</a:t>
            </a:r>
          </a:p>
          <a:p>
            <a:pPr lvl="0">
              <a:buNone/>
            </a:pPr>
            <a:r>
              <a:rPr sz="1800" b="1"/>
              <a:t>KEY MESSAGE: Proactive clash detection and rapid event response: Protecting lives when multiple activities or hazards intersect.</a:t>
            </a:r>
          </a:p>
          <a:p>
            <a:pPr lvl="0">
              <a:buNone/>
            </a:pPr>
            <a:r>
              <a:rPr sz="1800" b="1"/>
              <a:t>SIMOPS — SIMULTANEOUS OPERATIONS MANAGEMENT</a:t>
            </a:r>
          </a:p>
          <a:p>
            <a:pPr lvl="0">
              <a:buNone/>
            </a:pPr>
            <a:r>
              <a:rPr sz="1800" b="1"/>
              <a:t>Provides continuous visibility into potential conflicts between concurrent work activities.</a:t>
            </a:r>
          </a:p>
          <a:p>
            <a:pPr lvl="0">
              <a:buNone/>
            </a:pPr>
            <a:r>
              <a:rPr sz="1800" b="1"/>
              <a:t>• 1. Active Permit Ingestion: </a:t>
            </a:r>
            <a:r>
              <a:rPr sz="1800"/>
              <a:t>System evaluates all active and queued permits across plant units.</a:t>
            </a:r>
          </a:p>
          <a:p>
            <a:pPr lvl="0">
              <a:buNone/>
            </a:pPr>
            <a:r>
              <a:rPr sz="1800" b="1"/>
              <a:t>• 2. Multi-Vector Comparison: </a:t>
            </a:r>
            <a:r>
              <a:rPr sz="1800"/>
              <a:t>Checks Physical Location, Vertical/Horizontal Proximity, Equipment, Schedule &amp; Permit Type (e.g. Hot Work directly above Confined Space).</a:t>
            </a:r>
          </a:p>
          <a:p>
            <a:pPr lvl="0">
              <a:buNone/>
            </a:pPr>
            <a:r>
              <a:rPr sz="1800" b="1"/>
              <a:t>• 3. Automated Clash Detection: </a:t>
            </a:r>
            <a:r>
              <a:rPr sz="1800"/>
              <a:t>Detects boundary collisions and flags clash severity (High / Medium / Low).</a:t>
            </a:r>
          </a:p>
          <a:p>
            <a:pPr lvl="0">
              <a:buNone/>
            </a:pPr>
            <a:r>
              <a:rPr sz="1800" b="1"/>
              <a:t>• 4. Operational Alert &amp; Lock: </a:t>
            </a:r>
            <a:r>
              <a:rPr sz="1800"/>
              <a:t>Triggers live dashboard notifications and locks permit activation until deconflicted.</a:t>
            </a:r>
          </a:p>
          <a:p>
            <a:pPr lvl="0">
              <a:buNone/>
            </a:pPr>
            <a:r>
              <a:rPr sz="1800" b="1"/>
              <a:t>• 5. Mandatory Joint Review: </a:t>
            </a:r>
            <a:r>
              <a:rPr sz="1800"/>
              <a:t>Both work leaders must conduct a joint review, attach mitigation measures (fire blankets, dedicated guards), and execute co-signatures.</a:t>
            </a:r>
          </a:p>
          <a:p>
            <a:pPr lvl="0">
              <a:buNone/>
            </a:pPr>
            <a:r>
              <a:rPr sz="1800" b="1"/>
              <a:t>Dashboard Controls: Open conflicts count | Severity matrix | Live spatial clash alerts.</a:t>
            </a:r>
          </a:p>
          <a:p>
            <a:pPr lvl="0">
              <a:buNone/>
            </a:pPr>
            <a:r>
              <a:rPr sz="1800"/>
              <a:t>Business Value: Helps teams identify and prevent operational conflicts between concurrent activities.</a:t>
            </a:r>
          </a:p>
          <a:p>
            <a:pPr lvl="0">
              <a:buNone/>
            </a:pPr>
            <a:r>
              <a:rPr sz="1800" b="1"/>
              <a:t>SAFETY INCIDENT &amp; HAZARD PROTOCOL</a:t>
            </a:r>
          </a:p>
          <a:p>
            <a:pPr lvl="0">
              <a:buNone/>
            </a:pPr>
            <a:r>
              <a:rPr sz="1800" b="1"/>
              <a:t>Structured digital process for recording, tracking, and closing site safety events.</a:t>
            </a:r>
          </a:p>
          <a:p>
            <a:pPr lvl="0">
              <a:buNone/>
            </a:pPr>
            <a:r>
              <a:rPr sz="1800" b="1"/>
              <a:t>• 1. Event Identification: </a:t>
            </a:r>
            <a:r>
              <a:rPr sz="1800"/>
              <a:t>Covers three distinct safety event types: Incidents (harm/loss), Near Misses (potential harm), and Unsafe Conditions (hazard spotted).</a:t>
            </a:r>
          </a:p>
          <a:p>
            <a:pPr lvl="0">
              <a:buNone/>
            </a:pPr>
            <a:r>
              <a:rPr sz="1800" b="1"/>
              <a:t>• 2. Instant Stop Work Authority: </a:t>
            </a:r>
            <a:r>
              <a:rPr sz="1800"/>
              <a:t>Any worker has full legal authority to suspend work immediately upon danger.</a:t>
            </a:r>
          </a:p>
          <a:p>
            <a:pPr lvl="0">
              <a:buNone/>
            </a:pPr>
            <a:r>
              <a:rPr sz="1800" b="1"/>
              <a:t>• 3. Standardized Digital Report: </a:t>
            </a:r>
            <a:r>
              <a:rPr sz="1800"/>
              <a:t>Captures Title, Description, Severity, Exact Plant Location, Timestamp, Immediate Action Taken, and Linked Active Permit ID (optional).</a:t>
            </a:r>
          </a:p>
          <a:p>
            <a:pPr lvl="0">
              <a:buNone/>
            </a:pPr>
            <a:r>
              <a:rPr sz="1800" b="1"/>
              <a:t>• 4. Real-Time Status Tracking: </a:t>
            </a:r>
            <a:r>
              <a:rPr sz="1800"/>
              <a:t>Moves through transparent lifecycle: OPEN (Under investigation) → PENDING (Corrective measures) → CLOSED (Verified resolution).</a:t>
            </a:r>
          </a:p>
          <a:p>
            <a:pPr lvl="0">
              <a:buNone/>
            </a:pPr>
            <a:r>
              <a:rPr sz="1800" b="1"/>
              <a:t>• 5. Area Permit Voiding &amp; Reset: </a:t>
            </a:r>
            <a:r>
              <a:rPr sz="1800"/>
              <a:t>When site alarms trigger, affected active permits are immediately voided; work resumption strictly requires brand-new permit re-authorization.</a:t>
            </a:r>
          </a:p>
          <a:p>
            <a:pPr lvl="0">
              <a:buNone/>
            </a:pPr>
            <a:r>
              <a:rPr sz="1800" b="1"/>
              <a:t>Governance Integrity: Fully grounded in operational telemetry — prevents repeat incidents.</a:t>
            </a:r>
          </a:p>
          <a:p>
            <a:pPr lvl="0">
              <a:buNone/>
            </a:pPr>
            <a:r>
              <a:rPr sz="1800"/>
              <a:t>Business Value: Enforces immediate site transparency, zero-retaliation reporting, and regulatory audit readiness.</a:t>
            </a:r>
          </a:p>
          <a:p>
            <a:pPr lvl="0">
              <a:buNone/>
            </a:pPr>
            <a:r>
              <a:rPr sz="1800" b="1"/>
              <a:t>PTW ECOSYSTEM INTEGRATION: PTW Core ───► SIMOPS (Operational Conflict Monitoring) &amp; INCIDENTS (Safety Event Tracking)</a:t>
            </a:r>
          </a:p>
          <a:p>
            <a:pPr lvl="0">
              <a:buNone/>
            </a:pPr>
            <a:r>
              <a:rPr sz="1800" b="1"/>
              <a:t>OPERATIONAL TAKEAWAY: Together, SIMOPS and incident management strengthen operational visibility around active work.</a:t>
            </a:r>
          </a:p>
        </p:txBody>
      </p:sp>
    </p:spTree>
  </p:cSld>
  <p:clrMapOvr>
    <a:masterClrMapping/>
  </p:clrMapOvr>
</p:sld>
</file>

<file path=ppt/theme/theme1.xml><?xml version="1.0" encoding="utf-8"?>
<a:theme xmlns:a="http://schemas.openxmlformats.org/drawingml/2006/main" name="MarkCopy">
  <a:themeElements>
    <a:clrScheme name="MarkCopy">
      <a:dk1>
        <a:sysClr val="windowText" lastClr="000000"/>
      </a:dk1>
      <a:lt1>
        <a:sysClr val="window" lastClr="FFFFFF"/>
      </a:lt1>
      <a:dk2>
        <a:srgbClr val="1F2328"/>
      </a:dk2>
      <a:lt2>
        <a:srgbClr val="D0D7DE"/>
      </a:lt2>
      <a:accent1>
        <a:srgbClr val="0969DA"/>
      </a:accent1>
      <a:accent2>
        <a:srgbClr val="CF222E"/>
      </a:accent2>
      <a:accent3>
        <a:srgbClr val="1A7F37"/>
      </a:accent3>
      <a:accent4>
        <a:srgbClr val="9A6700"/>
      </a:accent4>
      <a:accent5>
        <a:srgbClr val="8250DF"/>
      </a:accent5>
      <a:accent6>
        <a:srgbClr val="BF3989"/>
      </a:accent6>
      <a:hlink>
        <a:srgbClr val="0969DA"/>
      </a:hlink>
      <a:folHlink>
        <a:srgbClr val="8250DF"/>
      </a:folHlink>
    </a:clrScheme>
    <a:fontScheme name="MarkCopy">
      <a:majorFont>
        <a:latin typeface="Calibri"/>
        <a:ea typeface=""/>
        <a:cs typeface=""/>
      </a:majorFont>
      <a:minorFont>
        <a:latin typeface="Calibri"/>
        <a:ea typeface=""/>
        <a:cs typeface=""/>
      </a:minorFont>
    </a:fontScheme>
    <a:fmtScheme name="MarkCopy">
      <a:fillStyleLst>
        <a:solidFill>
          <a:schemeClr val="phClr"/>
        </a:solidFill>
        <a:solidFill>
          <a:schemeClr val="phClr">
            <a:lumMod val="110000"/>
          </a:schemeClr>
        </a:solidFill>
        <a:solidFill>
          <a:schemeClr val="phClr">
            <a:lumMod val="105000"/>
          </a:scheme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lumMod val="105000"/>
          </a:schemeClr>
        </a:solidFill>
        <a:solidFill>
          <a:schemeClr val="phClr">
            <a:lumMod val="102000"/>
          </a:schemeClr>
        </a:soli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dc:title>PTW_Application_Meeting_Presentation.pptx</dc:title>
  <dc:creator>MarkCopy</dc:creator>
  <cp:lastModifiedBy>MarkCopy</cp:lastModifiedBy>
  <dcterms:created xsi:type="dcterms:W3CDTF">2026-09-21T05:03:35Z</dcterms:created>
  <dcterms:modified xsi:type="dcterms:W3CDTF">2026-09-21T05:03:35Z</dcterms:modified>
</cp:coreProperties>
</file>