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1. What is the Application About?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896112"/>
            <a:ext cx="10728655" cy="438912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0" bIns="0"/>
          <a:lstStyle/>
          <a:p>
            <a:pPr algn="ctr">
              <a:defRPr sz="1500" b="1">
                <a:solidFill>
                  <a:srgbClr val="0E7490"/>
                </a:solidFill>
                <a:latin typeface="Arial"/>
              </a:defRPr>
            </a:pPr>
            <a:r>
              <a:t>KEY MESSAGE:  A centralized digital platform connecting work authorization, safety, and execution.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81328"/>
            <a:ext cx="3401568" cy="3520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81328"/>
            <a:ext cx="3401568" cy="59436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AUTHORIZE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67128"/>
            <a:ext cx="3035808" cy="2743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Bef>
                <a:spcPts val="1600"/>
              </a:spcBef>
              <a:defRPr sz="1700">
                <a:solidFill>
                  <a:srgbClr val="334155"/>
                </a:solidFill>
                <a:latin typeface="Arial"/>
              </a:defRPr>
            </a:pPr>
            <a:r>
              <a:t>•  Digital Permit Creation</a:t>
            </a:r>
          </a:p>
          <a:p>
            <a:pPr>
              <a:spcBef>
                <a:spcPts val="1600"/>
              </a:spcBef>
              <a:defRPr sz="1700">
                <a:solidFill>
                  <a:srgbClr val="334155"/>
                </a:solidFill>
                <a:latin typeface="Arial"/>
              </a:defRPr>
            </a:pPr>
            <a:r>
              <a:t>•  Technical Review Queue</a:t>
            </a:r>
          </a:p>
          <a:p>
            <a:pPr>
              <a:spcBef>
                <a:spcPts val="1600"/>
              </a:spcBef>
              <a:defRPr sz="1700">
                <a:solidFill>
                  <a:srgbClr val="334155"/>
                </a:solidFill>
                <a:latin typeface="Arial"/>
              </a:defRPr>
            </a:pPr>
            <a:r>
              <a:t>•  Formal Sign-Off Approval</a:t>
            </a:r>
          </a:p>
          <a:p>
            <a:pPr>
              <a:spcBef>
                <a:spcPts val="1600"/>
              </a:spcBef>
              <a:defRPr sz="1700">
                <a:solidFill>
                  <a:srgbClr val="334155"/>
                </a:solidFill>
                <a:latin typeface="Arial"/>
              </a:defRPr>
            </a:pPr>
            <a:r>
              <a:t>•  Authorized Work Execution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81328"/>
            <a:ext cx="3401568" cy="3520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1481328"/>
            <a:ext cx="3401568" cy="59436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67128"/>
            <a:ext cx="3035808" cy="2743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Bef>
                <a:spcPts val="1600"/>
              </a:spcBef>
              <a:defRPr sz="1700">
                <a:solidFill>
                  <a:srgbClr val="334155"/>
                </a:solidFill>
                <a:latin typeface="Arial"/>
              </a:defRPr>
            </a:pPr>
            <a:r>
              <a:t>•  LOTOTO Energy Isolation</a:t>
            </a:r>
          </a:p>
          <a:p>
            <a:pPr>
              <a:spcBef>
                <a:spcPts val="1600"/>
              </a:spcBef>
              <a:defRPr sz="1700">
                <a:solidFill>
                  <a:srgbClr val="334155"/>
                </a:solidFill>
                <a:latin typeface="Arial"/>
              </a:defRPr>
            </a:pPr>
            <a:r>
              <a:t>•  Gas Testing (LEL &amp; O2)</a:t>
            </a:r>
          </a:p>
          <a:p>
            <a:pPr>
              <a:spcBef>
                <a:spcPts val="1600"/>
              </a:spcBef>
              <a:defRPr sz="1700">
                <a:solidFill>
                  <a:srgbClr val="334155"/>
                </a:solidFill>
                <a:latin typeface="Arial"/>
              </a:defRPr>
            </a:pPr>
            <a:r>
              <a:t>•  Toolbox Safety Talks (TBT)</a:t>
            </a:r>
          </a:p>
          <a:p>
            <a:pPr>
              <a:spcBef>
                <a:spcPts val="1600"/>
              </a:spcBef>
              <a:defRPr sz="1700">
                <a:solidFill>
                  <a:srgbClr val="334155"/>
                </a:solidFill>
                <a:latin typeface="Arial"/>
              </a:defRPr>
            </a:pPr>
            <a:r>
              <a:t>•  Verified Site Handback &amp; Close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81328"/>
            <a:ext cx="3401568" cy="3520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1481328"/>
            <a:ext cx="3401568" cy="5943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MONITOR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67128"/>
            <a:ext cx="3035808" cy="2743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Bef>
                <a:spcPts val="1600"/>
              </a:spcBef>
              <a:defRPr sz="1700">
                <a:solidFill>
                  <a:srgbClr val="334155"/>
                </a:solidFill>
                <a:latin typeface="Arial"/>
              </a:defRPr>
            </a:pPr>
            <a:r>
              <a:t>•  SIMOPS Clash Detection</a:t>
            </a:r>
          </a:p>
          <a:p>
            <a:pPr>
              <a:spcBef>
                <a:spcPts val="1600"/>
              </a:spcBef>
              <a:defRPr sz="1700">
                <a:solidFill>
                  <a:srgbClr val="334155"/>
                </a:solidFill>
                <a:latin typeface="Arial"/>
              </a:defRPr>
            </a:pPr>
            <a:r>
              <a:t>•  Live Plant Worksite Map</a:t>
            </a:r>
          </a:p>
          <a:p>
            <a:pPr>
              <a:spcBef>
                <a:spcPts val="1600"/>
              </a:spcBef>
              <a:defRPr sz="1700">
                <a:solidFill>
                  <a:srgbClr val="334155"/>
                </a:solidFill>
                <a:latin typeface="Arial"/>
              </a:defRPr>
            </a:pPr>
            <a:r>
              <a:t>•  Incident &amp; Near-Miss Log</a:t>
            </a:r>
          </a:p>
          <a:p>
            <a:pPr>
              <a:spcBef>
                <a:spcPts val="1600"/>
              </a:spcBef>
              <a:defRPr sz="1700">
                <a:solidFill>
                  <a:srgbClr val="334155"/>
                </a:solidFill>
                <a:latin typeface="Arial"/>
              </a:defRPr>
            </a:pPr>
            <a:r>
              <a:t>•  100% Audit-Ready Analytics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166360"/>
            <a:ext cx="10728655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0" bIns="0"/>
          <a:lstStyle/>
          <a:p>
            <a:pPr algn="ctr">
              <a:defRPr sz="1300" b="1">
                <a:solidFill>
                  <a:srgbClr val="0E7490"/>
                </a:solidFill>
                <a:latin typeface="Arial"/>
              </a:defRPr>
            </a:pPr>
            <a:r>
              <a:t>SIX ACCOUNTABLE ROLES (NO BLIND SPOTS)</a:t>
            </a:r>
          </a:p>
          <a:p>
            <a:pPr algn="ctr">
              <a:spcBef>
                <a:spcPts val="300"/>
              </a:spcBef>
              <a:defRPr sz="1700" b="1">
                <a:solidFill>
                  <a:srgbClr val="0F172A"/>
                </a:solidFill>
                <a:latin typeface="Arial"/>
              </a:defRPr>
            </a:pPr>
            <a:r>
              <a:t>Platform Admin   |   Org Admin   |   Job Issuer   |   Safety Officer   |   Operator   |   Viewer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6080760"/>
            <a:ext cx="10728655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0" bIns="0"/>
          <a:lstStyle/>
          <a:p>
            <a:pPr algn="ctr">
              <a:defRPr sz="1450" b="1">
                <a:solidFill>
                  <a:srgbClr val="0F172A"/>
                </a:solidFill>
                <a:latin typeface="Arial"/>
              </a:defRPr>
            </a:pPr>
            <a:r>
              <a:t>OPERATIONAL TAKEAWAY:  PTW acts as the central operational record connecting work authorization, safety controls, execution, and closure.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2. Features of the 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896112"/>
            <a:ext cx="10728655" cy="438912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0" bIns="0"/>
          <a:lstStyle/>
          <a:p>
            <a:pPr algn="ctr">
              <a:defRPr sz="1500" b="1">
                <a:solidFill>
                  <a:srgbClr val="0E7490"/>
                </a:solidFill>
                <a:latin typeface="Arial"/>
              </a:defRPr>
            </a:pPr>
            <a:r>
              <a:t>KEY MESSAGE:  Four core business functional groups delivering complete operational control.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81328"/>
            <a:ext cx="5230368" cy="2084831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81328"/>
            <a:ext cx="5230368" cy="50292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750" b="1">
                <a:solidFill>
                  <a:srgbClr val="FFFFFF"/>
                </a:solidFill>
                <a:latin typeface="Arial"/>
              </a:defRPr>
            </a:pPr>
            <a:r>
              <a:t>1. WORK AUTHORIZATION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48256"/>
            <a:ext cx="4773168" cy="144475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Bef>
                <a:spcPts val="1000"/>
              </a:spcBef>
              <a:defRPr sz="1650">
                <a:solidFill>
                  <a:srgbClr val="334155"/>
                </a:solidFill>
                <a:latin typeface="Arial"/>
              </a:defRPr>
            </a:pPr>
            <a:r>
              <a:t>•  Permit Creation &amp; Draft Management</a:t>
            </a:r>
          </a:p>
          <a:p>
            <a:pPr>
              <a:spcBef>
                <a:spcPts val="1000"/>
              </a:spcBef>
              <a:defRPr sz="1650">
                <a:solidFill>
                  <a:srgbClr val="334155"/>
                </a:solidFill>
                <a:latin typeface="Arial"/>
              </a:defRPr>
            </a:pPr>
            <a:r>
              <a:t>•  Online Submission to Area Engineer Queues</a:t>
            </a:r>
          </a:p>
          <a:p>
            <a:pPr>
              <a:spcBef>
                <a:spcPts val="1000"/>
              </a:spcBef>
              <a:defRPr sz="1650">
                <a:solidFill>
                  <a:srgbClr val="334155"/>
                </a:solidFill>
                <a:latin typeface="Arial"/>
              </a:defRPr>
            </a:pPr>
            <a:r>
              <a:t>•  Approve, Defer &amp; Resubmit Decision 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7064" y="1481328"/>
            <a:ext cx="5230368" cy="2084831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27064" y="1481328"/>
            <a:ext cx="5230368" cy="502920"/>
          </a:xfrm>
          <a:prstGeom prst="round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750" b="1">
                <a:solidFill>
                  <a:srgbClr val="FFFFFF"/>
                </a:solidFill>
                <a:latin typeface="Arial"/>
              </a:defRPr>
            </a:pPr>
            <a:r>
              <a:t>2. SAFETY &amp; OPERATIONAL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5664" y="2048256"/>
            <a:ext cx="4773168" cy="144475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Bef>
                <a:spcPts val="1000"/>
              </a:spcBef>
              <a:defRPr sz="1650">
                <a:solidFill>
                  <a:srgbClr val="334155"/>
                </a:solidFill>
                <a:latin typeface="Arial"/>
              </a:defRPr>
            </a:pPr>
            <a:r>
              <a:t>•  LOTOTO Isolation Plans &amp; Lock Padlock Logs</a:t>
            </a:r>
          </a:p>
          <a:p>
            <a:pPr>
              <a:spcBef>
                <a:spcPts val="1000"/>
              </a:spcBef>
              <a:defRPr sz="1650">
                <a:solidFill>
                  <a:srgbClr val="334155"/>
                </a:solidFill>
                <a:latin typeface="Arial"/>
              </a:defRPr>
            </a:pPr>
            <a:r>
              <a:t>•  SIMOPS Real-Time Conflict Screening</a:t>
            </a:r>
          </a:p>
          <a:p>
            <a:pPr>
              <a:spcBef>
                <a:spcPts val="1000"/>
              </a:spcBef>
              <a:defRPr sz="1650">
                <a:solidFill>
                  <a:srgbClr val="334155"/>
                </a:solidFill>
                <a:latin typeface="Arial"/>
              </a:defRPr>
            </a:pPr>
            <a:r>
              <a:t>•  Incident, Near-Miss &amp; Unsafe Condition Logs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49039"/>
            <a:ext cx="5230368" cy="2084831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3749039"/>
            <a:ext cx="5230368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750" b="1">
                <a:solidFill>
                  <a:srgbClr val="FFFFFF"/>
                </a:solidFill>
                <a:latin typeface="Arial"/>
              </a:defRPr>
            </a:pPr>
            <a:r>
              <a:t>3. WORK EXECUTION &amp; TRACEABILITY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315967"/>
            <a:ext cx="4773168" cy="144475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Bef>
                <a:spcPts val="1000"/>
              </a:spcBef>
              <a:defRPr sz="1650">
                <a:solidFill>
                  <a:srgbClr val="334155"/>
                </a:solidFill>
                <a:latin typeface="Arial"/>
              </a:defRPr>
            </a:pPr>
            <a:r>
              <a:t>•  Authorized Work Execution &amp; Shift Notes</a:t>
            </a:r>
          </a:p>
          <a:p>
            <a:pPr>
              <a:spcBef>
                <a:spcPts val="1000"/>
              </a:spcBef>
              <a:defRPr sz="1650">
                <a:solidFill>
                  <a:srgbClr val="334155"/>
                </a:solidFill>
                <a:latin typeface="Arial"/>
              </a:defRPr>
            </a:pPr>
            <a:r>
              <a:t>•  Site Photo &amp; Document Evidence Upload</a:t>
            </a:r>
          </a:p>
          <a:p>
            <a:pPr>
              <a:spcBef>
                <a:spcPts val="1000"/>
              </a:spcBef>
              <a:defRPr sz="1650">
                <a:solidFill>
                  <a:srgbClr val="334155"/>
                </a:solidFill>
                <a:latin typeface="Arial"/>
              </a:defRPr>
            </a:pPr>
            <a:r>
              <a:t>•  Suspend Work &amp; Final Verified Site Handback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3749039"/>
            <a:ext cx="5230368" cy="2084831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27064" y="3749039"/>
            <a:ext cx="5230368" cy="50292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750" b="1">
                <a:solidFill>
                  <a:srgbClr val="FFFFFF"/>
                </a:solidFill>
                <a:latin typeface="Arial"/>
              </a:defRPr>
            </a:pPr>
            <a:r>
              <a:t>4. MANAGEMENT &amp; VISIBILITY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4315967"/>
            <a:ext cx="4773168" cy="144475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Bef>
                <a:spcPts val="1000"/>
              </a:spcBef>
              <a:defRPr sz="1650">
                <a:solidFill>
                  <a:srgbClr val="334155"/>
                </a:solidFill>
                <a:latin typeface="Arial"/>
              </a:defRPr>
            </a:pPr>
            <a:r>
              <a:t>•  Workforce Roles &amp; Competencies Tracking</a:t>
            </a:r>
          </a:p>
          <a:p>
            <a:pPr>
              <a:spcBef>
                <a:spcPts val="1000"/>
              </a:spcBef>
              <a:defRPr sz="1650">
                <a:solidFill>
                  <a:srgbClr val="334155"/>
                </a:solidFill>
                <a:latin typeface="Arial"/>
              </a:defRPr>
            </a:pPr>
            <a:r>
              <a:t>•  Real-Time Operational KPIs &amp; Dashboards</a:t>
            </a:r>
          </a:p>
          <a:p>
            <a:pPr>
              <a:spcBef>
                <a:spcPts val="1000"/>
              </a:spcBef>
              <a:defRPr sz="1650">
                <a:solidFill>
                  <a:srgbClr val="334155"/>
                </a:solidFill>
                <a:latin typeface="Arial"/>
              </a:defRPr>
            </a:pPr>
            <a:r>
              <a:t>•  Audit Reports, CSV Exports &amp; Subscriptions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779008"/>
            <a:ext cx="10728655" cy="23774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6080760"/>
            <a:ext cx="10728655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0" bIns="0"/>
          <a:lstStyle/>
          <a:p>
            <a:pPr algn="ctr">
              <a:defRPr sz="1450" b="1">
                <a:solidFill>
                  <a:srgbClr val="0F172A"/>
                </a:solidFill>
                <a:latin typeface="Arial"/>
              </a:defRPr>
            </a:pPr>
            <a:r>
              <a:t>OPERATIONAL TAKEAWAY:  One platform → From work authorization to operational reporting.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3. Why is this Application Required?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896112"/>
            <a:ext cx="10728655" cy="438912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0" bIns="0"/>
          <a:lstStyle/>
          <a:p>
            <a:pPr algn="ctr">
              <a:defRPr sz="1500" b="1">
                <a:solidFill>
                  <a:srgbClr val="0E7490"/>
                </a:solidFill>
                <a:latin typeface="Arial"/>
              </a:defRPr>
            </a:pPr>
            <a:r>
              <a:t>KEY MESSAGE:  Provides a structured digital process to support safer, accountable, and more controlled operations.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81328"/>
            <a:ext cx="5230368" cy="1874519"/>
          </a:xfrm>
          <a:prstGeom prst="roundRect">
            <a:avLst/>
          </a:prstGeom>
          <a:solidFill>
            <a:srgbClr val="FFF1F2"/>
          </a:solidFill>
          <a:ln w="2540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274320" rIns="274320"/>
          <a:lstStyle/>
          <a:p>
            <a:pPr algn="ctr">
              <a:defRPr sz="1900" b="1">
                <a:solidFill>
                  <a:srgbClr val="E11D48"/>
                </a:solidFill>
                <a:latin typeface="Arial"/>
              </a:defRPr>
            </a:pPr>
            <a:r>
              <a:t>WITHOUT CENTRALIZED CONTROL</a:t>
            </a:r>
          </a:p>
          <a:p>
            <a:pPr>
              <a:spcBef>
                <a:spcPts val="800"/>
              </a:spcBef>
              <a:defRPr sz="1600">
                <a:solidFill>
                  <a:srgbClr val="0F172A"/>
                </a:solidFill>
                <a:latin typeface="Arial"/>
              </a:defRPr>
            </a:pPr>
            <a:r>
              <a:t>•  Fragmented Work Information (Paper binders &amp; emails)</a:t>
            </a:r>
            <a:br/>
            <a:r>
              <a:t>•  Limited Plant-Wide Visibility for Area Supervisors</a:t>
            </a:r>
            <a:br/>
            <a:r>
              <a:t>•  Higher Risk of Conflicting Trades &amp; Severe Accidents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27064" y="1481328"/>
            <a:ext cx="5230368" cy="1874519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274320" rIns="274320"/>
          <a:lstStyle/>
          <a:p>
            <a:pPr algn="ctr">
              <a:defRPr sz="1900" b="1">
                <a:solidFill>
                  <a:srgbClr val="0E7490"/>
                </a:solidFill>
                <a:latin typeface="Arial"/>
              </a:defRPr>
            </a:pPr>
            <a:r>
              <a:t>WITH PTW APPLICATION</a:t>
            </a:r>
          </a:p>
          <a:p>
            <a:pPr>
              <a:spcBef>
                <a:spcPts val="800"/>
              </a:spcBef>
              <a:defRPr sz="1600">
                <a:solidFill>
                  <a:srgbClr val="0F172A"/>
                </a:solidFill>
                <a:latin typeface="Arial"/>
              </a:defRPr>
            </a:pPr>
            <a:r>
              <a:t>•  Structured Authorization Enforced Before Work Starts</a:t>
            </a:r>
            <a:br/>
            <a:r>
              <a:t>•  Active Safety Controls (LOTOTO Isolation &amp; SIMOPS)</a:t>
            </a:r>
            <a:br/>
            <a:r>
              <a:t>•  Full Live Tracking, Traceability &amp; Corporate Audit Logs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20440"/>
            <a:ext cx="3401568" cy="11155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8016" lIns="164592" rIns="164592"/>
          <a:lstStyle/>
          <a:p>
            <a:pPr algn="ctr">
              <a:defRPr sz="1550" b="1">
                <a:solidFill>
                  <a:srgbClr val="0E7490"/>
                </a:solidFill>
                <a:latin typeface="Arial"/>
              </a:defRPr>
            </a:pPr>
            <a:r>
              <a:t>1. CONTROLLED WORK</a:t>
            </a:r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Structured lifecycle before &amp; during 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520440"/>
            <a:ext cx="3401568" cy="11155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8016" lIns="164592" rIns="164592"/>
          <a:lstStyle/>
          <a:p>
            <a:pPr algn="ctr">
              <a:defRPr sz="1550" b="1">
                <a:solidFill>
                  <a:srgbClr val="0E7490"/>
                </a:solidFill>
                <a:latin typeface="Arial"/>
              </a:defRPr>
            </a:pPr>
            <a:r>
              <a:t>2. SAFER OPERATIONS</a:t>
            </a:r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Built-in LOTOTO isolation &amp; SIMOPS screening.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520440"/>
            <a:ext cx="3401568" cy="11155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8016" lIns="164592" rIns="164592"/>
          <a:lstStyle/>
          <a:p>
            <a:pPr algn="ctr">
              <a:defRPr sz="1550" b="1">
                <a:solidFill>
                  <a:srgbClr val="0E7490"/>
                </a:solidFill>
                <a:latin typeface="Arial"/>
              </a:defRPr>
            </a:pPr>
            <a:r>
              <a:t>3. CLEAR ACCOUNTABILITY</a:t>
            </a:r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Role-based ownership for all approvals &amp; tasks.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64024"/>
            <a:ext cx="3401568" cy="11155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8016" lIns="164592" rIns="164592"/>
          <a:lstStyle/>
          <a:p>
            <a:pPr algn="ctr">
              <a:defRPr sz="1550" b="1">
                <a:solidFill>
                  <a:srgbClr val="0E7490"/>
                </a:solidFill>
                <a:latin typeface="Arial"/>
              </a:defRPr>
            </a:pPr>
            <a:r>
              <a:t>4. OPERATIONAL VISIBILITY</a:t>
            </a:r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Single live dashboard for permits and hazards.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4764024"/>
            <a:ext cx="3401568" cy="11155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8016" lIns="164592" rIns="164592"/>
          <a:lstStyle/>
          <a:p>
            <a:pPr algn="ctr">
              <a:defRPr sz="1550" b="1">
                <a:solidFill>
                  <a:srgbClr val="0E7490"/>
                </a:solidFill>
                <a:latin typeface="Arial"/>
              </a:defRPr>
            </a:pPr>
            <a:r>
              <a:t>5. FULL TRACEABILITY</a:t>
            </a:r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Progress notes, photo evidence &amp; closed records.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4764024"/>
            <a:ext cx="3401568" cy="11155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8016" lIns="164592" rIns="164592"/>
          <a:lstStyle/>
          <a:p>
            <a:pPr algn="ctr">
              <a:defRPr sz="1550" b="1">
                <a:solidFill>
                  <a:srgbClr val="0E7490"/>
                </a:solidFill>
                <a:latin typeface="Arial"/>
              </a:defRPr>
            </a:pPr>
            <a:r>
              <a:t>6. DATA-DRIVEN MANAGEMENT</a:t>
            </a:r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Live safety KPIs, trend insights &amp; reports.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6080760"/>
            <a:ext cx="10728655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0" bIns="0"/>
          <a:lstStyle/>
          <a:p>
            <a:pPr algn="ctr">
              <a:defRPr sz="1450" b="1">
                <a:solidFill>
                  <a:srgbClr val="0F172A"/>
                </a:solidFill>
                <a:latin typeface="Arial"/>
              </a:defRPr>
            </a:pPr>
            <a:r>
              <a:t>OPERATIONAL TAKEAWAY:  Provides a structured digital process to support safer, accountable, and more controlled operations.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4. End-to-End Application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896112"/>
            <a:ext cx="10728655" cy="438912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0" bIns="0"/>
          <a:lstStyle/>
          <a:p>
            <a:pPr algn="ctr">
              <a:defRPr sz="1500" b="1">
                <a:solidFill>
                  <a:srgbClr val="0E7490"/>
                </a:solidFill>
                <a:latin typeface="Arial"/>
              </a:defRPr>
            </a:pPr>
            <a:r>
              <a:t>KEY MESSAGE:  Clear 8-stage lifecycle from draft permit creation to final verified closure.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44752"/>
            <a:ext cx="10728655" cy="475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LIFECYCLE STATUSES:   DRAFT  →  PENDING APPROVAL  →  APPROVED  →  EXECUTION  →  CLOSED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48256"/>
            <a:ext cx="2542032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048256"/>
            <a:ext cx="2542032" cy="438912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STAGE 1: CREATE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23744"/>
            <a:ext cx="2359152" cy="104241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Arial"/>
              </a:defRPr>
            </a:pPr>
            <a:r>
              <a:t>Permit Draft</a:t>
            </a:r>
          </a:p>
          <a:p>
            <a:pPr algn="ctr">
              <a:spcBef>
                <a:spcPts val="4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Select Work Type</a:t>
            </a:r>
            <a:br/>
            <a:r>
              <a:t>(Hot, Cold, Space)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2048256"/>
            <a:ext cx="2542032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56432" y="2048256"/>
            <a:ext cx="2542032" cy="438912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STAGE 2: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2523744"/>
            <a:ext cx="2359152" cy="104241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Arial"/>
              </a:defRPr>
            </a:pPr>
            <a:r>
              <a:t>Scope &amp; Crew</a:t>
            </a:r>
          </a:p>
          <a:p>
            <a:pPr algn="ctr">
              <a:spcBef>
                <a:spcPts val="4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Location, Schedule</a:t>
            </a:r>
            <a:br/>
            <a:r>
              <a:t>&amp; Assigned Crew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2048256"/>
            <a:ext cx="2542032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81344" y="2048256"/>
            <a:ext cx="2542032" cy="438912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STAGE 3: SUBMIT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4" y="2523744"/>
            <a:ext cx="2359152" cy="104241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Arial"/>
              </a:defRPr>
            </a:pPr>
            <a:r>
              <a:t>Review &amp; Send</a:t>
            </a:r>
          </a:p>
          <a:p>
            <a:pPr algn="ctr">
              <a:spcBef>
                <a:spcPts val="4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Review Details &amp;</a:t>
            </a:r>
            <a:br/>
            <a:r>
              <a:t>Route to Queue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6256" y="2048256"/>
            <a:ext cx="2542032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06256" y="2048256"/>
            <a:ext cx="2542032" cy="43891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STAGE 4: APPROVE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523744"/>
            <a:ext cx="2359152" cy="104241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Arial"/>
              </a:defRPr>
            </a:pPr>
            <a:r>
              <a:t>Approval Queue</a:t>
            </a:r>
          </a:p>
          <a:p>
            <a:pPr algn="ctr">
              <a:spcBef>
                <a:spcPts val="4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APPROVE or DEFER</a:t>
            </a:r>
            <a:br/>
            <a:r>
              <a:t>(Clarification loop)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712463"/>
            <a:ext cx="10728655" cy="402336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450" b="1">
                <a:solidFill>
                  <a:srgbClr val="B45309"/>
                </a:solidFill>
                <a:latin typeface="Arial"/>
              </a:defRPr>
            </a:pPr>
            <a:r>
              <a:t>STAGE 4 APPROVAL BRANCHING:  APPROVED (Proceed to Controls)   ⇄   DEFERRED (Need Clarification → Resubmit)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224528"/>
            <a:ext cx="2542032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4224528"/>
            <a:ext cx="2542032" cy="438912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STAGE 5: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700016"/>
            <a:ext cx="2359152" cy="104241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Arial"/>
              </a:defRPr>
            </a:pPr>
            <a:r>
              <a:t>Safety Gates</a:t>
            </a:r>
          </a:p>
          <a:p>
            <a:pPr algn="ctr">
              <a:spcBef>
                <a:spcPts val="4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LOTOTO Isolation</a:t>
            </a:r>
            <a:br/>
            <a:r>
              <a:t>&amp; SIMOPS Check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56432" y="4224528"/>
            <a:ext cx="2542032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456432" y="4224528"/>
            <a:ext cx="2542032" cy="438912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STAGE 6: EXECUTE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7872" y="4700016"/>
            <a:ext cx="2359152" cy="104241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Arial"/>
              </a:defRPr>
            </a:pPr>
            <a:r>
              <a:t>Active Work</a:t>
            </a:r>
          </a:p>
          <a:p>
            <a:pPr algn="ctr">
              <a:spcBef>
                <a:spcPts val="4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Field Execution &amp;</a:t>
            </a:r>
            <a:br/>
            <a:r>
              <a:t>Progress Evidence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1344" y="4224528"/>
            <a:ext cx="2542032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81344" y="4224528"/>
            <a:ext cx="2542032" cy="438912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STAGE 7: VERIFY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2784" y="4700016"/>
            <a:ext cx="2359152" cy="104241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Arial"/>
              </a:defRPr>
            </a:pPr>
            <a:r>
              <a:t>Site Handback</a:t>
            </a:r>
          </a:p>
          <a:p>
            <a:pPr algn="ctr">
              <a:spcBef>
                <a:spcPts val="4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Remove Isolations</a:t>
            </a:r>
            <a:br/>
            <a:r>
              <a:t>&amp; Verify Close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06256" y="4224528"/>
            <a:ext cx="2542032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06256" y="4224528"/>
            <a:ext cx="2542032" cy="438912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STAGE 8: ARCHIVE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97696" y="4700016"/>
            <a:ext cx="2359152" cy="104241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Arial"/>
              </a:defRPr>
            </a:pPr>
            <a:r>
              <a:t>Historical Log</a:t>
            </a:r>
          </a:p>
          <a:p>
            <a:pPr algn="ctr">
              <a:spcBef>
                <a:spcPts val="4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Audit Archive &amp;</a:t>
            </a:r>
            <a:br/>
            <a:r>
              <a:t>Safety Analytics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6080760"/>
            <a:ext cx="10728655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0" bIns="0"/>
          <a:lstStyle/>
          <a:p>
            <a:pPr algn="ctr">
              <a:defRPr sz="1450" b="1">
                <a:solidFill>
                  <a:srgbClr val="0F172A"/>
                </a:solidFill>
                <a:latin typeface="Arial"/>
              </a:defRPr>
            </a:pPr>
            <a:r>
              <a:t>OPERATIONAL TAKEAWAY:  Permit is the central record connecting authorization, safety controls, execution, and closure.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5. SIMOPS &amp; Safety Incident Protocol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896112"/>
            <a:ext cx="10728655" cy="438912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0" bIns="0"/>
          <a:lstStyle/>
          <a:p>
            <a:pPr algn="ctr">
              <a:defRPr sz="1500" b="1">
                <a:solidFill>
                  <a:srgbClr val="0E7490"/>
                </a:solidFill>
                <a:latin typeface="Arial"/>
              </a:defRPr>
            </a:pPr>
            <a:r>
              <a:t>KEY MESSAGE:  Proactive conflict monitoring and rapid incident management across active 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81328"/>
            <a:ext cx="5230368" cy="38862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81328"/>
            <a:ext cx="5230368" cy="566928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SIMOPS (SIMULTANEOUS OPERATIONS)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39696"/>
            <a:ext cx="4773168" cy="3154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550" b="1">
                <a:solidFill>
                  <a:srgbClr val="0F172A"/>
                </a:solidFill>
                <a:latin typeface="Arial"/>
              </a:defRPr>
            </a:pPr>
            <a:r>
              <a:t>Identifies potential conflicts between simultaneous work activities.</a:t>
            </a:r>
          </a:p>
          <a:p>
            <a:pPr>
              <a:spcBef>
                <a:spcPts val="1000"/>
              </a:spcBef>
              <a:defRPr sz="1550">
                <a:solidFill>
                  <a:srgbClr val="334155"/>
                </a:solidFill>
                <a:latin typeface="Arial"/>
              </a:defRPr>
            </a:pPr>
            <a:r>
              <a:t>•  Active Permits Scan: Continuously checks all active plant work</a:t>
            </a:r>
          </a:p>
          <a:p>
            <a:pPr>
              <a:spcBef>
                <a:spcPts val="1000"/>
              </a:spcBef>
              <a:defRPr sz="1550">
                <a:solidFill>
                  <a:srgbClr val="334155"/>
                </a:solidFill>
                <a:latin typeface="Arial"/>
              </a:defRPr>
            </a:pPr>
            <a:r>
              <a:t>•  4 Check Vectors: Location, Equipment, Schedule &amp; Permit Type</a:t>
            </a:r>
          </a:p>
          <a:p>
            <a:pPr>
              <a:spcBef>
                <a:spcPts val="1000"/>
              </a:spcBef>
              <a:defRPr sz="1550">
                <a:solidFill>
                  <a:srgbClr val="334155"/>
                </a:solidFill>
                <a:latin typeface="Arial"/>
              </a:defRPr>
            </a:pPr>
            <a:r>
              <a:t>•  Clash Detection: Automatically flags overlapping jobs</a:t>
            </a:r>
          </a:p>
          <a:p>
            <a:pPr>
              <a:spcBef>
                <a:spcPts val="1000"/>
              </a:spcBef>
              <a:defRPr sz="1550">
                <a:solidFill>
                  <a:srgbClr val="334155"/>
                </a:solidFill>
                <a:latin typeface="Arial"/>
              </a:defRPr>
            </a:pPr>
            <a:r>
              <a:t>•  Severity Levels: Categorized as High, Medium, or Low risk</a:t>
            </a:r>
          </a:p>
          <a:p>
            <a:pPr>
              <a:spcBef>
                <a:spcPts val="1000"/>
              </a:spcBef>
              <a:defRPr sz="1550">
                <a:solidFill>
                  <a:srgbClr val="334155"/>
                </a:solidFill>
                <a:latin typeface="Arial"/>
              </a:defRPr>
            </a:pPr>
            <a:r>
              <a:t>•  Live Dashboard: Visual alerts for immediate operational 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7064" y="1481328"/>
            <a:ext cx="5230368" cy="38862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27064" y="1481328"/>
            <a:ext cx="5230368" cy="566928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SAFETY INCIDENT PROTOCOL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5664" y="2139696"/>
            <a:ext cx="4773168" cy="3154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550" b="1">
                <a:solidFill>
                  <a:srgbClr val="0F172A"/>
                </a:solidFill>
                <a:latin typeface="Arial"/>
              </a:defRPr>
            </a:pPr>
            <a:r>
              <a:t>Structured recording and tracking of all worksite safety events.</a:t>
            </a:r>
          </a:p>
          <a:p>
            <a:pPr>
              <a:spcBef>
                <a:spcPts val="1000"/>
              </a:spcBef>
              <a:defRPr sz="1550">
                <a:solidFill>
                  <a:srgbClr val="334155"/>
                </a:solidFill>
                <a:latin typeface="Arial"/>
              </a:defRPr>
            </a:pPr>
            <a:r>
              <a:t>•  3 Event Types: Incidents, Near Misses &amp; Unsafe Conditions</a:t>
            </a:r>
          </a:p>
          <a:p>
            <a:pPr>
              <a:spcBef>
                <a:spcPts val="1000"/>
              </a:spcBef>
              <a:defRPr sz="1550">
                <a:solidFill>
                  <a:srgbClr val="334155"/>
                </a:solidFill>
                <a:latin typeface="Arial"/>
              </a:defRPr>
            </a:pPr>
            <a:r>
              <a:t>•  Immediate Report: Type, Title, Location, Time &amp; Linked Permit</a:t>
            </a:r>
          </a:p>
          <a:p>
            <a:pPr>
              <a:spcBef>
                <a:spcPts val="1000"/>
              </a:spcBef>
              <a:defRPr sz="1550">
                <a:solidFill>
                  <a:srgbClr val="334155"/>
                </a:solidFill>
                <a:latin typeface="Arial"/>
              </a:defRPr>
            </a:pPr>
            <a:r>
              <a:t>•  Field Escalation: Instant submission to plant safety register</a:t>
            </a:r>
          </a:p>
          <a:p>
            <a:pPr>
              <a:spcBef>
                <a:spcPts val="1000"/>
              </a:spcBef>
              <a:defRPr sz="1550">
                <a:solidFill>
                  <a:srgbClr val="334155"/>
                </a:solidFill>
                <a:latin typeface="Arial"/>
              </a:defRPr>
            </a:pPr>
            <a:r>
              <a:t>•  Status Lifecycle: Transparent Open → Pending → Closed flow</a:t>
            </a:r>
          </a:p>
          <a:p>
            <a:pPr>
              <a:spcBef>
                <a:spcPts val="1000"/>
              </a:spcBef>
              <a:defRPr sz="1550">
                <a:solidFill>
                  <a:srgbClr val="334155"/>
                </a:solidFill>
                <a:latin typeface="Arial"/>
              </a:defRPr>
            </a:pPr>
            <a:r>
              <a:t>•  Full Traceability: Correlates events to permits for audit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504688"/>
            <a:ext cx="10728655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0" bIns="0"/>
          <a:lstStyle/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PTW PLATFORM:   SIMOPS (Conflict Monitoring)   +   INCIDENTS (Safety Event Tracking)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6080760"/>
            <a:ext cx="10728655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0" bIns="0"/>
          <a:lstStyle/>
          <a:p>
            <a:pPr algn="ctr">
              <a:defRPr sz="1450" b="1">
                <a:solidFill>
                  <a:srgbClr val="0F172A"/>
                </a:solidFill>
                <a:latin typeface="Arial"/>
              </a:defRPr>
            </a:pPr>
            <a:r>
              <a:t>OPERATIONAL TAKEAWAY:  Together, SIMOPS and incident management strengthen operational visibility around active work.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