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E36"/>
                </a:solidFill>
                <a:latin typeface="Calibri"/>
              </a:defRPr>
            </a:pPr>
            <a:r>
              <a:t>1. What is the Application About?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Key Message: A centralized system to authorize, control, and track work from start to finish.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Work Authorization   +   Safety Control   +   Operational Visibility   +   Accountability   +   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3429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34290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AUTHORIZE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Formal Permit Creation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Structured Approval Queue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Active Work Execution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Completion Evidence Upload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Safe Work Order Closure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423160"/>
            <a:ext cx="3429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9976" y="2423160"/>
            <a:ext cx="3429000" cy="457200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301752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LOTOTO (Energy Isolation)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Mandatory Safety Controls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Pre-Task Safety Checklists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Work Suspension Capability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Handback &amp; Site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2423160"/>
            <a:ext cx="3429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8432" y="2423160"/>
            <a:ext cx="34290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301752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Live SIMOPS Conflict Check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Incident &amp; Near-Miss Tracking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Real-Time Plant Dashboard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Complete Activity Audit Log</a:t>
            </a:r>
          </a:p>
          <a:p>
            <a:pPr>
              <a:spcAft>
                <a:spcPts val="7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✔  Operational Analytics &amp; KPIs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728655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E3A66"/>
                </a:solidFill>
                <a:latin typeface="Calibri"/>
              </a:defRPr>
            </a:pPr>
            <a:r>
              <a:t>Clear Roles &amp; Ownership:   Platform Admin   |   Org Admin   |   Job Issuer   |   Safety Officer   |   Operator   |   Viewer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E36"/>
                </a:solidFill>
                <a:latin typeface="Calibri"/>
              </a:defRPr>
            </a:pPr>
            <a:r>
              <a:t>Takeaway: PTW acts as the central operational record connecting work authorization, safety controls, execution, and closure.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E36"/>
                </a:solidFill>
                <a:latin typeface="Calibri"/>
              </a:defRPr>
            </a:pPr>
            <a:r>
              <a:t>2. Features of the Application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Key Message: Built-in capabilities organized into 4 clear business functions.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42032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2542032" cy="502920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Work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2128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Permit Creation: Fast drafting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Draft Management: Save &amp; edit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Submission: Required checks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Approval Queue: Multi-role review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Approve / Defer: Give feedback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Resubmission: Quick revisions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691640"/>
            <a:ext cx="254203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Safety &amp;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331720"/>
            <a:ext cx="22128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LOTOTO Plans: Energy lockout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SIMOPS: Live conflict checks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Safety Controls: Plant rules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Incidents: Event logging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Near Misses: Hazard reporting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Unsafe Conditions: Alert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91640"/>
            <a:ext cx="2542032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691640"/>
            <a:ext cx="2542032" cy="502920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Execution &amp;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331720"/>
            <a:ext cx="22128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Work Execution: Active state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Progress Updates: Live notes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Evidence: Upload completion photos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Activity History: Timestamped log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Suspend Work: Stop on risk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Verify &amp; Close: Sign-off &amp; archive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91640"/>
            <a:ext cx="2542032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691640"/>
            <a:ext cx="254203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Management &amp;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331720"/>
            <a:ext cx="221284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Workforce: Users &amp; permissions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Roles: Defined competencies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Organization: Plants &amp; locations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Live Analytics: Active counters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Reports: CSV &amp; operational exports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• Billing: Tier &amp; subscription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E36"/>
                </a:solidFill>
                <a:latin typeface="Calibri"/>
              </a:defRPr>
            </a:pPr>
            <a:r>
              <a:t>One Platform  →  From work authorization to operational reporting and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E36"/>
                </a:solidFill>
                <a:latin typeface="Calibri"/>
              </a:defRPr>
            </a:pPr>
            <a:r>
              <a:t>3. Why is this Application Required?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Key Message: Replacing fragmented manual habits with a structured digital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29184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291840" cy="5029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WITHOUT STRUCTURED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E36"/>
                </a:solidFill>
                <a:latin typeface="Calibri"/>
              </a:defRPr>
            </a:pPr>
            <a:r>
              <a:t>✖  Fragmented Information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Paper permits, emails, and disconnected spreadsheets.</a:t>
            </a:r>
          </a:p>
          <a:p>
            <a:pPr>
              <a:defRPr sz="1250" b="1">
                <a:solidFill>
                  <a:srgbClr val="0F1E36"/>
                </a:solidFill>
                <a:latin typeface="Calibri"/>
              </a:defRPr>
            </a:pPr>
            <a:r>
              <a:t>✖  Limited Operational Visibility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Management cannot see active jobs in real time.</a:t>
            </a:r>
          </a:p>
          <a:p>
            <a:pPr>
              <a:defRPr sz="1250" b="1">
                <a:solidFill>
                  <a:srgbClr val="0F1E36"/>
                </a:solidFill>
                <a:latin typeface="Calibri"/>
              </a:defRPr>
            </a:pPr>
            <a:r>
              <a:t>✖  Higher Coordination Risk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Conflicting work tasks occur without prior warning.</a:t>
            </a:r>
          </a:p>
          <a:p>
            <a:pPr>
              <a:defRPr sz="1250" b="1">
                <a:solidFill>
                  <a:srgbClr val="0F1E36"/>
                </a:solidFill>
                <a:latin typeface="Calibri"/>
              </a:defRPr>
            </a:pPr>
            <a:r>
              <a:t>✖  Weak Accountability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Hard to verify who approved or checked safety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7855" y="1691640"/>
            <a:ext cx="3456432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7855" y="1691640"/>
            <a:ext cx="109728" cy="12618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7311" y="1801368"/>
            <a:ext cx="313639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66"/>
                </a:solidFill>
                <a:latin typeface="Calibri"/>
              </a:defRPr>
            </a:pPr>
            <a:r>
              <a:t>1. Controlled Work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Structured digital workflow before and during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3743" y="1691640"/>
            <a:ext cx="3456432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3743" y="1691640"/>
            <a:ext cx="109728" cy="12618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3199" y="1801368"/>
            <a:ext cx="313639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66"/>
                </a:solidFill>
                <a:latin typeface="Calibri"/>
              </a:defRPr>
            </a:pPr>
            <a:r>
              <a:t>2. Safer Operations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Built-in energy isolation (LOTOTO) and SIMOPS conflict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7855" y="3118104"/>
            <a:ext cx="3456432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7855" y="3118104"/>
            <a:ext cx="109728" cy="12618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7311" y="3227832"/>
            <a:ext cx="313639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66"/>
                </a:solidFill>
                <a:latin typeface="Calibri"/>
              </a:defRPr>
            </a:pPr>
            <a:r>
              <a:t>3. Clear Accountability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Explicit role-based ownership for approvals and closures.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3743" y="3118104"/>
            <a:ext cx="3456432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3743" y="3118104"/>
            <a:ext cx="109728" cy="12618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3199" y="3227832"/>
            <a:ext cx="313639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66"/>
                </a:solidFill>
                <a:latin typeface="Calibri"/>
              </a:defRPr>
            </a:pPr>
            <a:r>
              <a:t>4. Operational Visibility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Single live dashboard for permits, execution, and incidents.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7855" y="4544568"/>
            <a:ext cx="3456432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7855" y="4544568"/>
            <a:ext cx="109728" cy="12618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7311" y="4654296"/>
            <a:ext cx="313639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66"/>
                </a:solidFill>
                <a:latin typeface="Calibri"/>
              </a:defRPr>
            </a:pPr>
            <a:r>
              <a:t>5. Traceability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Timestamped progress notes, photo evidence, and closed archives.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3743" y="4544568"/>
            <a:ext cx="3456432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3743" y="4544568"/>
            <a:ext cx="109728" cy="12618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3199" y="4654296"/>
            <a:ext cx="313639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66"/>
                </a:solidFill>
                <a:latin typeface="Calibri"/>
              </a:defRPr>
            </a:pPr>
            <a:r>
              <a:t>6. Data-Driven Management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Real-time KPIs and CSV exports for safety review and audits.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E36"/>
                </a:solidFill>
                <a:latin typeface="Calibri"/>
              </a:defRPr>
            </a:pPr>
            <a:r>
              <a:t>Business Outcome: Provides a structured digital process to support safer and more controlled work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E36"/>
                </a:solidFill>
                <a:latin typeface="Calibri"/>
              </a:defRPr>
            </a:pPr>
            <a:r>
              <a:t>4. End-to-End Application Workflow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Key Message: The complete path of a permit from draft creation to final verified closure.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438912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OFFICIAL STATUS LIFECYCLE:   DRAFT   →   PENDING APPROVAL   →   APPROVED   →   EXECUTION   →   CLOSED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2542032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441448"/>
            <a:ext cx="100584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07208"/>
            <a:ext cx="226771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Calibri"/>
              </a:defRPr>
            </a:pPr>
            <a:r>
              <a:t>Permit Draft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Issuer creates new permit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331720"/>
            <a:ext cx="2542032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441448"/>
            <a:ext cx="1005840" cy="292608"/>
          </a:xfrm>
          <a:prstGeom prst="round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807208"/>
            <a:ext cx="226771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Calibri"/>
              </a:defRPr>
            </a:pPr>
            <a:r>
              <a:t>Scope &amp; Crew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Location, schedule &amp;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331720"/>
            <a:ext cx="2542032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1072" y="2441448"/>
            <a:ext cx="100584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SUBMIT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807208"/>
            <a:ext cx="226771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Calibri"/>
              </a:defRPr>
            </a:pPr>
            <a:r>
              <a:t>Review &amp; Check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Submit to Pending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2331720"/>
            <a:ext cx="2542032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15984" y="2441448"/>
            <a:ext cx="1005840" cy="292608"/>
          </a:xfrm>
          <a:prstGeom prst="round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807208"/>
            <a:ext cx="226771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Calibri"/>
              </a:defRPr>
            </a:pPr>
            <a:r>
              <a:t>Approval Queue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Reviewer Approves or Defers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2542032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4407408"/>
            <a:ext cx="100584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73168"/>
            <a:ext cx="226771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Calibri"/>
              </a:defRPr>
            </a:pPr>
            <a:r>
              <a:t>LOTOTO &amp; SIMOPS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Energy isolation &amp; conflicts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4297680"/>
            <a:ext cx="2542032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66160" y="4407408"/>
            <a:ext cx="1005840" cy="292608"/>
          </a:xfrm>
          <a:prstGeom prst="round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6. 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4773168"/>
            <a:ext cx="226771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Calibri"/>
              </a:defRPr>
            </a:pPr>
            <a:r>
              <a:t>Work Execution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Progress notes &amp;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4297680"/>
            <a:ext cx="2542032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91072" y="4407408"/>
            <a:ext cx="100584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7.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4773168"/>
            <a:ext cx="226771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Calibri"/>
              </a:defRPr>
            </a:pPr>
            <a:r>
              <a:t>Verify &amp; Close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Site check &amp; completion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4297680"/>
            <a:ext cx="2542032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15984" y="4407408"/>
            <a:ext cx="1005840" cy="292608"/>
          </a:xfrm>
          <a:prstGeom prst="round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8. ARCHIVE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4773168"/>
            <a:ext cx="226771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Calibri"/>
              </a:defRPr>
            </a:pPr>
            <a:r>
              <a:t>Audit Record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Searchable history &amp; KPIs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931920"/>
            <a:ext cx="10728655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APPROVAL BRANCHING:   [APPROVED → Proceed to Controls &amp; Execution]   ⇄   [DEFERRED → Add Info → Resubmit]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E36"/>
                </a:solidFill>
                <a:latin typeface="Calibri"/>
              </a:defRPr>
            </a:pPr>
            <a:r>
              <a:t>Core Principle: The Permit is the central record connecting authorization, safety controls, execution, evidence, and 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E36"/>
                </a:solidFill>
                <a:latin typeface="Calibri"/>
              </a:defRPr>
            </a:pPr>
            <a:r>
              <a:t>5. SIMOPS &amp; Safety Incident Protocol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Key Message: Dual operational tools to monitor active work conflicts and capture safety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5257800" cy="502920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SIMOPS — SIMULTANEOUS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4800600" cy="301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Identifies potential conflicts between simultaneous work activities.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Active Permits Scan: Continuously checks all approved and active work.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4 Comparison Factors: Location, Equipment, Schedule Window, and Permit Type.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Conflict Detection: Flags overlapping jobs sharing the same area or gear.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Severity Assessment: Ranks conflict risk: High, Medium, or Low severity.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Dashboard Alerts: Displays open conflicts, risk levels, and alerts for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691640"/>
            <a:ext cx="525780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2375" y="1691640"/>
            <a:ext cx="525780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SAFETY INCIDENT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0975" y="2313432"/>
            <a:ext cx="4800600" cy="301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Structured recording of incidents, near misses, and unsafe conditions.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3 Event Types: Captures Incidents, Near Misses, and Unsafe Conditions.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Detailed Report: Type, Title, Description, Location, Timestamp &amp; Linked Permit.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Instant Submission: Enters central register immediately upon completion.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Status Lifecycle: Tracks status clearly: Open → Pending HOD Decision → Closed.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Full Traceability: Correlates safety events to plant locations and work permits.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865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E36"/>
                </a:solidFill>
                <a:latin typeface="Calibri"/>
              </a:defRPr>
            </a:pPr>
            <a:r>
              <a:t>PTW APPLICATION INTEGRATION:   SIMOPS → Conflict Monitoring   |   INCIDENTS → Safety Event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F1E36"/>
                </a:solidFill>
                <a:latin typeface="Calibri"/>
              </a:defRPr>
            </a:pPr>
            <a:r>
              <a:t>Takeaway: Together, SIMOPS and incident management strengthen operational visibility around active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