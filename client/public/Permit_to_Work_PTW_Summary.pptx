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6213E"/>
                </a:solidFill>
                <a:latin typeface="Calibri"/>
              </a:defRPr>
            </a:pPr>
            <a:r>
              <a:t>What is the Application All About?</a:t>
            </a:r>
          </a:p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Permit to Work (PTW) Core Purpose &amp; Authorized Personnel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91640"/>
            <a:ext cx="10725912" cy="10515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E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56A0"/>
                </a:solidFill>
                <a:latin typeface="Calibri"/>
              </a:defRPr>
            </a:pPr>
            <a:r>
              <a:t>PTW = Permission  +  Hazard Identification  +  Safety Controls  +  Sign-Off</a:t>
            </a:r>
          </a:p>
          <a:p>
            <a:pPr algn="ctr">
              <a:defRPr sz="1400">
                <a:solidFill>
                  <a:srgbClr val="1E293B"/>
                </a:solidFill>
                <a:latin typeface="Calibri"/>
              </a:defRPr>
            </a:pPr>
            <a:r>
              <a:t>Official formal authorization required before carrying out any hazardous job in an operational facility.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spcAft>
                <a:spcPts val="200"/>
              </a:spcAft>
              <a:defRPr sz="1600" b="1">
                <a:solidFill>
                  <a:srgbClr val="1E56A0"/>
                </a:solidFill>
                <a:latin typeface="Calibri"/>
              </a:defRPr>
            </a:pPr>
            <a:r>
              <a:t>PERMIT RECEIVER</a:t>
            </a:r>
          </a:p>
          <a:p>
            <a:pPr>
              <a:spcAft>
                <a:spcPts val="12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Field Supervisor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Requests permit with JSA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Briefs field work crew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Stays at site continuously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292608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spcAft>
                <a:spcPts val="200"/>
              </a:spcAft>
              <a:defRPr sz="1600" b="1">
                <a:solidFill>
                  <a:srgbClr val="1E56A0"/>
                </a:solidFill>
                <a:latin typeface="Calibri"/>
              </a:defRPr>
            </a:pPr>
            <a:r>
              <a:t>PERMIT ISSUER</a:t>
            </a:r>
          </a:p>
          <a:p>
            <a:pPr>
              <a:spcAft>
                <a:spcPts val="12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Area Custodian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Verifies site isolation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Tests gas levels &amp; limits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Authorizes safe 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292608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spcAft>
                <a:spcPts val="200"/>
              </a:spcAft>
              <a:defRPr sz="1600" b="1">
                <a:solidFill>
                  <a:srgbClr val="1E56A0"/>
                </a:solidFill>
                <a:latin typeface="Calibri"/>
              </a:defRPr>
            </a:pPr>
            <a:r>
              <a:t>PTW COORDINATOR</a:t>
            </a:r>
          </a:p>
          <a:p>
            <a:pPr>
              <a:spcAft>
                <a:spcPts val="12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Operations Lead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Registers all active jobs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Prevents site conflicts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Tracks 24-hr logbook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292608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spcAft>
                <a:spcPts val="200"/>
              </a:spcAft>
              <a:defRPr sz="1600" b="1">
                <a:solidFill>
                  <a:srgbClr val="1E56A0"/>
                </a:solidFill>
                <a:latin typeface="Calibri"/>
              </a:defRPr>
            </a:pPr>
            <a:r>
              <a:t>EHS OFFICER</a:t>
            </a:r>
          </a:p>
          <a:p>
            <a:pPr>
              <a:spcAft>
                <a:spcPts val="12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Safety Advisor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Audits critical safety controls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Endorses high-risk permits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Performs random spot checks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6213E"/>
                </a:solidFill>
                <a:latin typeface="Calibri"/>
              </a:defRPr>
            </a:pPr>
            <a:r>
              <a:t>Features of this Application</a:t>
            </a:r>
          </a:p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Color-coded classifications, mandatory safety attachments, and strict time limits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456432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200"/>
              </a:spcAft>
              <a:defRPr sz="1800" b="1">
                <a:solidFill>
                  <a:srgbClr val="1E56A0"/>
                </a:solidFill>
                <a:latin typeface="Calibri"/>
              </a:defRPr>
            </a:pPr>
            <a:r>
              <a:t>Color-Coded Permits</a:t>
            </a:r>
          </a:p>
          <a:p>
            <a:pPr>
              <a:spcAft>
                <a:spcPts val="1400"/>
              </a:spcAft>
              <a:defRPr sz="1200">
                <a:solidFill>
                  <a:srgbClr val="64748B"/>
                </a:solidFill>
                <a:latin typeface="Calibri"/>
              </a:defRPr>
            </a:pPr>
            <a:r>
              <a:t>Visual identification in the field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RED: Hot Work (Welding, sparks, flame)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BLUE: Cold Work (Hand tools, unbolting)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GREEN: Confined Space Entry (Tanks, pits)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ORANGE: Electrical &amp; Lock-Out / Tag-Out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PURPLE: Working at Height (&gt; 1.8m)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BROWN: Excavation &amp; Trenching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70832" y="1828800"/>
            <a:ext cx="3456432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200"/>
              </a:spcAft>
              <a:defRPr sz="1800" b="1">
                <a:solidFill>
                  <a:srgbClr val="1E56A0"/>
                </a:solidFill>
                <a:latin typeface="Calibri"/>
              </a:defRPr>
            </a:pPr>
            <a:r>
              <a:t>Mandatory Attachments</a:t>
            </a:r>
          </a:p>
          <a:p>
            <a:pPr>
              <a:spcAft>
                <a:spcPts val="1400"/>
              </a:spcAft>
              <a:defRPr sz="1200">
                <a:solidFill>
                  <a:srgbClr val="64748B"/>
                </a:solidFill>
                <a:latin typeface="Calibri"/>
              </a:defRPr>
            </a:pPr>
            <a:r>
              <a:t>Enforced pre-job documents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JSA: Step-by-step hazard checklist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Gas Test: O2 (19.5-23.5%), LEL (0%), H2S (0)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Toolbox Talk: Daily briefing &amp; crew sign-off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P&amp;ID Drawing: Marked mechanical spade blinds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Rescue Plan: Standby personnel &amp; rescue tripod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0144" y="1828800"/>
            <a:ext cx="3456432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200"/>
              </a:spcAft>
              <a:defRPr sz="1800" b="1">
                <a:solidFill>
                  <a:srgbClr val="1E56A0"/>
                </a:solidFill>
                <a:latin typeface="Calibri"/>
              </a:defRPr>
            </a:pPr>
            <a:r>
              <a:t>Validity &amp; Audit Rules</a:t>
            </a:r>
          </a:p>
          <a:p>
            <a:pPr>
              <a:spcAft>
                <a:spcPts val="1400"/>
              </a:spcAft>
              <a:defRPr sz="1200">
                <a:solidFill>
                  <a:srgbClr val="64748B"/>
                </a:solidFill>
                <a:latin typeface="Calibri"/>
              </a:defRPr>
            </a:pPr>
            <a:r>
              <a:t>Time boundaries &amp; governance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Single Shift: Valid 8 to 12 hours only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Daily Revalidation: Joint morning check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Maximum Lifetime: 6 days before renewal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Worksite Display: Placed in field permit box</a:t>
            </a:r>
          </a:p>
          <a:p>
            <a:pPr>
              <a:spcAft>
                <a:spcPts val="7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Audit Trail: Permanent regulatory storage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6213E"/>
                </a:solidFill>
                <a:latin typeface="Calibri"/>
              </a:defRPr>
            </a:pPr>
            <a:r>
              <a:t>Why is this Application Required?</a:t>
            </a:r>
          </a:p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Crucial risk reduction, life protection, and compliance enforcement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266944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200"/>
              </a:spcAft>
              <a:defRPr sz="1700" b="1">
                <a:solidFill>
                  <a:srgbClr val="1E56A0"/>
                </a:solidFill>
                <a:latin typeface="Calibri"/>
              </a:defRPr>
            </a:pPr>
            <a:r>
              <a:t>Accident &amp; Explosion Prevention</a:t>
            </a:r>
          </a:p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Catastrophic Risk Control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Stops uncontrolled ignition of hydrocarbons &amp; explosive vapors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Protects technicians from deadly toxic gases (H2S &amp; CO)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Guarantees safe atmospheric levels before any confined entry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81344" y="1828800"/>
            <a:ext cx="5266944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200"/>
              </a:spcAft>
              <a:defRPr sz="1700" b="1">
                <a:solidFill>
                  <a:srgbClr val="1E56A0"/>
                </a:solidFill>
                <a:latin typeface="Calibri"/>
              </a:defRPr>
            </a:pPr>
            <a:r>
              <a:t>Zero-Energy Isolation (LOTO)</a:t>
            </a:r>
          </a:p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Guaranteed Physical Protection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Positive mechanical isolation via physical spade blind insertion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Electrical Lock-Out &amp; Tag-Out with personal locks and keys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Prevents accidental equipment energization or valve openings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60520"/>
            <a:ext cx="5266944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200"/>
              </a:spcAft>
              <a:defRPr sz="1700" b="1">
                <a:solidFill>
                  <a:srgbClr val="1E56A0"/>
                </a:solidFill>
                <a:latin typeface="Calibri"/>
              </a:defRPr>
            </a:pPr>
            <a:r>
              <a:t>Conflict &amp; SIMOPS Elimination</a:t>
            </a:r>
          </a:p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Cross-Crew Separation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Prevents hot sparks falling onto lower-deck chemical operations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Maintains critical physical safety barriers between contractors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Gives the control room real-time visibility over all plant jobs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4160520"/>
            <a:ext cx="5266944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200"/>
              </a:spcAft>
              <a:defRPr sz="1700" b="1">
                <a:solidFill>
                  <a:srgbClr val="1E56A0"/>
                </a:solidFill>
                <a:latin typeface="Calibri"/>
              </a:defRPr>
            </a:pPr>
            <a:r>
              <a:t>Legal Accountability &amp; Compliance</a:t>
            </a:r>
          </a:p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Regulatory Defense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Signed mutual agreement between operations and maintenance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Every worker acknowledges hazards before touching equipment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Provides an unalterable audit log for government &amp; safety audits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6213E"/>
                </a:solidFill>
                <a:latin typeface="Calibri"/>
              </a:defRPr>
            </a:pPr>
            <a:r>
              <a:t>How Does the Application Flow End-to-End?</a:t>
            </a:r>
          </a:p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Operational stages from initial job request to final closeout and archival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1E56A0"/>
                </a:solidFill>
                <a:latin typeface="Calibri"/>
              </a:defRPr>
            </a:pPr>
            <a:r>
              <a:t>Stage 1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Submit Request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Receiver fills permit form and attaches Job Safety Analysis (JSA).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70832" y="182880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1E56A0"/>
                </a:solidFill>
                <a:latin typeface="Calibri"/>
              </a:defRPr>
            </a:pPr>
            <a:r>
              <a:t>Stage 2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Technical Review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Issuer inspects site, applies LOTO locks, and logs blind tags.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0144" y="182880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1E56A0"/>
                </a:solidFill>
                <a:latin typeface="Calibri"/>
              </a:defRPr>
            </a:pPr>
            <a:r>
              <a:t>Stage 3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Clash &amp; Gas Check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PTW Coordinator resolves SIMOPS; gas tester certifies atmosphere.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Stage 4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Briefing &amp; Display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Hold Toolbox Talk (TBT), sign attendance, display in field 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416052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Stage 5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Execution &amp; Monitor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Active work commences under designated supervisor &amp; standby watch.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4160520"/>
            <a:ext cx="3456432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300"/>
              </a:spcAft>
              <a:defRPr sz="1300" b="1">
                <a:solidFill>
                  <a:srgbClr val="16213E"/>
                </a:solidFill>
                <a:latin typeface="Calibri"/>
              </a:defRPr>
            </a:pPr>
            <a:r>
              <a:t>Stage 6</a:t>
            </a:r>
          </a:p>
          <a:p>
            <a:pPr>
              <a:spcAft>
                <a:spcPts val="800"/>
              </a:spcAft>
              <a:defRPr sz="1800" b="1">
                <a:solidFill>
                  <a:srgbClr val="16213E"/>
                </a:solidFill>
                <a:latin typeface="Calibri"/>
              </a:defRPr>
            </a:pPr>
            <a:r>
              <a:t>Housekeeping &amp; Close</a:t>
            </a:r>
          </a:p>
          <a:p>
            <a:pPr>
              <a:defRPr sz="1500">
                <a:solidFill>
                  <a:srgbClr val="1E293B"/>
                </a:solidFill>
                <a:latin typeface="Calibri"/>
              </a:defRPr>
            </a:pPr>
            <a:r>
              <a:t>Site cleaned, de-isolation verified, signatures logged, archived.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16213E"/>
                </a:solidFill>
                <a:latin typeface="Calibri"/>
              </a:defRPr>
            </a:pPr>
            <a:r>
              <a:t>What Happens When Safety Incidents Occur?</a:t>
            </a:r>
          </a:p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Protocol for Simultaneous Operations (SIMOPS) and emergency incident response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266944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spcAft>
                <a:spcPts val="200"/>
              </a:spcAft>
              <a:defRPr sz="1800" b="1">
                <a:solidFill>
                  <a:srgbClr val="1E56A0"/>
                </a:solidFill>
                <a:latin typeface="Calibri"/>
              </a:defRPr>
            </a:pPr>
            <a:r>
              <a:t>SIMOPS (Simultaneous Operations)</a:t>
            </a:r>
          </a:p>
          <a:p>
            <a:pPr>
              <a:spcAft>
                <a:spcPts val="1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Cross-Job Physical Clashes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Vertical Conflicts: Hot sparks falling above fuel lines or lower crew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Shared Utilities: Dual operations connecting to the same purge line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Crane Overflights: Lifting heavy loads over active hydrocarbon piping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Resolution Rule: Mandatory SIMOPS checklist &amp; scheduled shift separation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81344" y="1828800"/>
            <a:ext cx="5266944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spcAft>
                <a:spcPts val="200"/>
              </a:spcAft>
              <a:defRPr sz="1800" b="1">
                <a:solidFill>
                  <a:srgbClr val="BE185D"/>
                </a:solidFill>
                <a:latin typeface="Calibri"/>
              </a:defRPr>
            </a:pPr>
            <a:r>
              <a:t>Emergency Incident Protocol</a:t>
            </a:r>
          </a:p>
          <a:p>
            <a:pPr>
              <a:spcAft>
                <a:spcPts val="14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Immediate Stop &amp; Evacuation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Stop Work Authority (SWA): Any worker has the right to halt work instantly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Alarm Activation: Sirens sound -&gt; equipment shut down, crew musters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Automatic Invalidation: All active permits in the area voided immediately</a:t>
            </a:r>
          </a:p>
          <a:p>
            <a:pPr>
              <a:spcAft>
                <a:spcPts val="9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Mandatory Reset: Root cause fixed, fresh gas test &amp; new permit issued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