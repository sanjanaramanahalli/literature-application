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2"/>
          <p:cNvSpPr/>
          <p:nvPr/>
        </p:nvSpPr>
        <p:spPr>
          <a:xfrm>
            <a:off x="838200" y="1825625"/>
            <a:ext cx="10515600" cy="2852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800" b="1"/>
              <a:t>What is the Application All About?</a:t>
            </a:r>
          </a:p>
          <a:p>
            <a:pPr lvl="0">
              <a:buNone/>
            </a:pPr>
            <a:r>
              <a:rPr sz="1800"/>
              <a:t>Permit to Work (PTW) Core Purpose &amp; Authorized Personnel</a:t>
            </a:r>
          </a:p>
          <a:p>
            <a:pPr lvl="0">
              <a:buNone/>
            </a:pPr>
            <a:r>
              <a:rPr sz="1800" b="1"/>
              <a:t>PTW = Permission + Hazard Identification + Safety Controls + Sign-Off</a:t>
            </a:r>
          </a:p>
          <a:p>
            <a:pPr lvl="0">
              <a:buNone/>
            </a:pPr>
            <a:r>
              <a:rPr sz="1800"/>
              <a:t>Official formal authorization required before carrying out any hazardous job in an operational facility.</a:t>
            </a:r>
          </a:p>
          <a:p>
            <a:pPr lvl="0">
              <a:buNone/>
            </a:pPr>
            <a:r>
              <a:rPr sz="1800" b="1"/>
              <a:t>PERMIT RECEIVER</a:t>
            </a:r>
          </a:p>
          <a:p>
            <a:pPr lvl="0">
              <a:buNone/>
            </a:pPr>
            <a:r>
              <a:rPr sz="1800" b="1"/>
              <a:t>Field Supervisor</a:t>
            </a:r>
          </a:p>
          <a:p>
            <a:pPr lvl="0">
              <a:buNone/>
            </a:pPr>
            <a:r>
              <a:rPr sz="1800"/>
              <a:t>• Requests permit with JSA</a:t>
            </a:r>
          </a:p>
          <a:p>
            <a:pPr lvl="0">
              <a:buNone/>
            </a:pPr>
            <a:r>
              <a:rPr sz="1800"/>
              <a:t>• Briefs field work crew</a:t>
            </a:r>
          </a:p>
          <a:p>
            <a:pPr lvl="0">
              <a:buNone/>
            </a:pPr>
            <a:r>
              <a:rPr sz="1800"/>
              <a:t>• Stays at site continuously</a:t>
            </a:r>
          </a:p>
          <a:p>
            <a:pPr lvl="0">
              <a:buNone/>
            </a:pPr>
            <a:r>
              <a:rPr sz="1800" b="1"/>
              <a:t>PERMIT ISSUER</a:t>
            </a:r>
          </a:p>
          <a:p>
            <a:pPr lvl="0">
              <a:buNone/>
            </a:pPr>
            <a:r>
              <a:rPr sz="1800" b="1"/>
              <a:t>Area Custodian</a:t>
            </a:r>
          </a:p>
          <a:p>
            <a:pPr lvl="0">
              <a:buNone/>
            </a:pPr>
            <a:r>
              <a:rPr sz="1800"/>
              <a:t>• Verifies site isolation</a:t>
            </a:r>
          </a:p>
          <a:p>
            <a:pPr lvl="0">
              <a:buNone/>
            </a:pPr>
            <a:r>
              <a:rPr sz="1800"/>
              <a:t>• Tests gas levels &amp; limits</a:t>
            </a:r>
          </a:p>
          <a:p>
            <a:pPr lvl="0">
              <a:buNone/>
            </a:pPr>
            <a:r>
              <a:rPr sz="1800"/>
              <a:t>• Authorizes safe start</a:t>
            </a:r>
          </a:p>
          <a:p>
            <a:pPr lvl="0">
              <a:buNone/>
            </a:pPr>
            <a:r>
              <a:rPr sz="1800" b="1"/>
              <a:t>PTW COORDINATOR</a:t>
            </a:r>
          </a:p>
          <a:p>
            <a:pPr lvl="0">
              <a:buNone/>
            </a:pPr>
            <a:r>
              <a:rPr sz="1800" b="1"/>
              <a:t>Operations Lead</a:t>
            </a:r>
          </a:p>
          <a:p>
            <a:pPr lvl="0">
              <a:buNone/>
            </a:pPr>
            <a:r>
              <a:rPr sz="1800"/>
              <a:t>• Registers all active jobs</a:t>
            </a:r>
          </a:p>
          <a:p>
            <a:pPr lvl="0">
              <a:buNone/>
            </a:pPr>
            <a:r>
              <a:rPr sz="1800"/>
              <a:t>• Prevents site conflicts</a:t>
            </a:r>
          </a:p>
          <a:p>
            <a:pPr lvl="0">
              <a:buNone/>
            </a:pPr>
            <a:r>
              <a:rPr sz="1800"/>
              <a:t>• Tracks 24-hr logbook</a:t>
            </a:r>
          </a:p>
          <a:p>
            <a:pPr lvl="0">
              <a:buNone/>
            </a:pPr>
            <a:r>
              <a:rPr sz="1800" b="1"/>
              <a:t>EHS OFFICER</a:t>
            </a:r>
          </a:p>
          <a:p>
            <a:pPr lvl="0">
              <a:buNone/>
            </a:pPr>
            <a:r>
              <a:rPr sz="1800" b="1"/>
              <a:t>Safety Advisor</a:t>
            </a:r>
          </a:p>
          <a:p>
            <a:pPr lvl="0">
              <a:buNone/>
            </a:pPr>
            <a:r>
              <a:rPr sz="1800"/>
              <a:t>• Audits critical safety controls</a:t>
            </a:r>
          </a:p>
          <a:p>
            <a:pPr lvl="0">
              <a:buNone/>
            </a:pPr>
            <a:r>
              <a:rPr sz="1800"/>
              <a:t>• Endorses high-risk permits</a:t>
            </a:r>
          </a:p>
          <a:p>
            <a:pPr lvl="0">
              <a:buNone/>
            </a:pPr>
            <a:r>
              <a:rPr sz="1800"/>
              <a:t>• Performs random spot checks</a:t>
            </a:r>
          </a:p>
          <a:p>
            <a:pPr lvl="0">
              <a:buNone/>
            </a:pPr>
            <a:r>
              <a:rPr sz="1800" b="1"/>
              <a:t>Features of this Application</a:t>
            </a:r>
          </a:p>
          <a:p>
            <a:pPr lvl="0">
              <a:buNone/>
            </a:pPr>
            <a:r>
              <a:rPr sz="1800"/>
              <a:t>Color-coded classifications, mandatory safety attachments, and strict time limits</a:t>
            </a:r>
          </a:p>
          <a:p>
            <a:pPr lvl="0">
              <a:buNone/>
            </a:pPr>
            <a:r>
              <a:rPr sz="1800" b="1"/>
              <a:t>Color-Coded Permits</a:t>
            </a:r>
          </a:p>
          <a:p>
            <a:pPr lvl="0">
              <a:buNone/>
            </a:pPr>
            <a:r>
              <a:rPr sz="1800"/>
              <a:t>Visual identification in the field</a:t>
            </a:r>
          </a:p>
          <a:p>
            <a:pPr lvl="0">
              <a:buNone/>
            </a:pPr>
            <a:r>
              <a:rPr sz="1800"/>
              <a:t>• RED: Hot Work (Welding, sparks, flame)</a:t>
            </a:r>
          </a:p>
          <a:p>
            <a:pPr lvl="0">
              <a:buNone/>
            </a:pPr>
            <a:r>
              <a:rPr sz="1800"/>
              <a:t>• BLUE: Cold Work (Hand tools, unbolting)</a:t>
            </a:r>
          </a:p>
          <a:p>
            <a:pPr lvl="0">
              <a:buNone/>
            </a:pPr>
            <a:r>
              <a:rPr sz="1800"/>
              <a:t>• GREEN: Confined Space Entry (Tanks, pits)</a:t>
            </a:r>
          </a:p>
          <a:p>
            <a:pPr lvl="0">
              <a:buNone/>
            </a:pPr>
            <a:r>
              <a:rPr sz="1800"/>
              <a:t>• ORANGE: Electrical &amp; Lock-Out / Tag-Out</a:t>
            </a:r>
          </a:p>
          <a:p>
            <a:pPr lvl="0">
              <a:buNone/>
            </a:pPr>
            <a:r>
              <a:rPr sz="1800"/>
              <a:t>• PURPLE: Working at Height (&gt; 1.8m)</a:t>
            </a:r>
          </a:p>
          <a:p>
            <a:pPr lvl="0">
              <a:buNone/>
            </a:pPr>
            <a:r>
              <a:rPr sz="1800"/>
              <a:t>• BROWN: Excavation &amp; Trenching</a:t>
            </a:r>
          </a:p>
          <a:p>
            <a:pPr lvl="0">
              <a:buNone/>
            </a:pPr>
            <a:r>
              <a:rPr sz="1800" b="1"/>
              <a:t>Mandatory Attachments</a:t>
            </a:r>
          </a:p>
          <a:p>
            <a:pPr lvl="0">
              <a:buNone/>
            </a:pPr>
            <a:r>
              <a:rPr sz="1800"/>
              <a:t>Enforced pre-job documents</a:t>
            </a:r>
          </a:p>
          <a:p>
            <a:pPr lvl="0">
              <a:buNone/>
            </a:pPr>
            <a:r>
              <a:rPr sz="1800"/>
              <a:t>• JSA: Step-by-step hazard checklist</a:t>
            </a:r>
          </a:p>
          <a:p>
            <a:pPr lvl="0">
              <a:buNone/>
            </a:pPr>
            <a:r>
              <a:rPr sz="1800"/>
              <a:t>• Gas Test: O2 (19.5-23.5%), LEL (0%), H2S (0)</a:t>
            </a:r>
          </a:p>
          <a:p>
            <a:pPr lvl="0">
              <a:buNone/>
            </a:pPr>
            <a:r>
              <a:rPr sz="1800"/>
              <a:t>• Toolbox Talk: Daily briefing &amp; crew sign-off</a:t>
            </a:r>
          </a:p>
          <a:p>
            <a:pPr lvl="0">
              <a:buNone/>
            </a:pPr>
            <a:r>
              <a:rPr sz="1800"/>
              <a:t>• P&amp;ID Drawing: Marked mechanical spade blinds</a:t>
            </a:r>
          </a:p>
          <a:p>
            <a:pPr lvl="0">
              <a:buNone/>
            </a:pPr>
            <a:r>
              <a:rPr sz="1800"/>
              <a:t>• Rescue Plan: Standby personnel &amp; rescue tripod</a:t>
            </a:r>
          </a:p>
          <a:p>
            <a:pPr lvl="0">
              <a:buNone/>
            </a:pPr>
            <a:r>
              <a:rPr sz="1800" b="1"/>
              <a:t>Validity &amp; Audit Rules</a:t>
            </a:r>
          </a:p>
          <a:p>
            <a:pPr lvl="0">
              <a:buNone/>
            </a:pPr>
            <a:r>
              <a:rPr sz="1800"/>
              <a:t>Time boundaries &amp; governance</a:t>
            </a:r>
          </a:p>
          <a:p>
            <a:pPr lvl="0">
              <a:buNone/>
            </a:pPr>
            <a:r>
              <a:rPr sz="1800"/>
              <a:t>• Single Shift: Valid 8 to 12 hours only</a:t>
            </a:r>
          </a:p>
          <a:p>
            <a:pPr lvl="0">
              <a:buNone/>
            </a:pPr>
            <a:r>
              <a:rPr sz="1800"/>
              <a:t>• Daily Revalidation: Joint morning check</a:t>
            </a:r>
          </a:p>
          <a:p>
            <a:pPr lvl="0">
              <a:buNone/>
            </a:pPr>
            <a:r>
              <a:rPr sz="1800"/>
              <a:t>• Maximum Lifetime: 6 days before renewal</a:t>
            </a:r>
          </a:p>
          <a:p>
            <a:pPr lvl="0">
              <a:buNone/>
            </a:pPr>
            <a:r>
              <a:rPr sz="1800"/>
              <a:t>• Worksite Display: Placed in field permit box</a:t>
            </a:r>
          </a:p>
          <a:p>
            <a:pPr lvl="0">
              <a:buNone/>
            </a:pPr>
            <a:r>
              <a:rPr sz="1800"/>
              <a:t>• Audit Trail: Permanent regulatory storage</a:t>
            </a:r>
          </a:p>
          <a:p>
            <a:pPr lvl="0">
              <a:buNone/>
            </a:pPr>
            <a:r>
              <a:rPr sz="1800" b="1"/>
              <a:t>Why is this Application Required?</a:t>
            </a:r>
          </a:p>
          <a:p>
            <a:pPr lvl="0">
              <a:buNone/>
            </a:pPr>
            <a:r>
              <a:rPr sz="1800"/>
              <a:t>Crucial risk reduction, life protection, and compliance enforcement</a:t>
            </a:r>
          </a:p>
          <a:p>
            <a:pPr lvl="0">
              <a:buNone/>
            </a:pPr>
            <a:r>
              <a:rPr sz="1800" b="1"/>
              <a:t>Accident &amp; Explosion Prevention</a:t>
            </a:r>
          </a:p>
          <a:p>
            <a:pPr lvl="0">
              <a:buNone/>
            </a:pPr>
            <a:r>
              <a:rPr sz="1800" b="1"/>
              <a:t>Catastrophic Risk Control</a:t>
            </a:r>
          </a:p>
          <a:p>
            <a:pPr lvl="0">
              <a:buNone/>
            </a:pPr>
            <a:r>
              <a:rPr sz="1800"/>
              <a:t>• Stops uncontrolled ignition of hydrocarbons &amp; explosive vapors</a:t>
            </a:r>
          </a:p>
          <a:p>
            <a:pPr lvl="0">
              <a:buNone/>
            </a:pPr>
            <a:r>
              <a:rPr sz="1800"/>
              <a:t>• Protects technicians from deadly toxic gases (H2S &amp; CO)</a:t>
            </a:r>
          </a:p>
          <a:p>
            <a:pPr lvl="0">
              <a:buNone/>
            </a:pPr>
            <a:r>
              <a:rPr sz="1800"/>
              <a:t>• Guarantees safe atmospheric levels before any confined entry</a:t>
            </a:r>
          </a:p>
          <a:p>
            <a:pPr lvl="0">
              <a:buNone/>
            </a:pPr>
            <a:r>
              <a:rPr sz="1800" b="1"/>
              <a:t>Zero-Energy Isolation (LOTO)</a:t>
            </a:r>
          </a:p>
          <a:p>
            <a:pPr lvl="0">
              <a:buNone/>
            </a:pPr>
            <a:r>
              <a:rPr sz="1800" b="1"/>
              <a:t>Guaranteed Physical Protection</a:t>
            </a:r>
          </a:p>
          <a:p>
            <a:pPr lvl="0">
              <a:buNone/>
            </a:pPr>
            <a:r>
              <a:rPr sz="1800"/>
              <a:t>• Positive mechanical isolation via physical spade blind insertion</a:t>
            </a:r>
          </a:p>
          <a:p>
            <a:pPr lvl="0">
              <a:buNone/>
            </a:pPr>
            <a:r>
              <a:rPr sz="1800"/>
              <a:t>• Electrical Lock-Out &amp; Tag-Out with personal locks and keys</a:t>
            </a:r>
          </a:p>
          <a:p>
            <a:pPr lvl="0">
              <a:buNone/>
            </a:pPr>
            <a:r>
              <a:rPr sz="1800"/>
              <a:t>• Prevents accidental equipment energization or valve openings</a:t>
            </a:r>
          </a:p>
          <a:p>
            <a:pPr lvl="0">
              <a:buNone/>
            </a:pPr>
            <a:r>
              <a:rPr sz="1800" b="1"/>
              <a:t>Conflict &amp; SIMOPS Elimination</a:t>
            </a:r>
          </a:p>
          <a:p>
            <a:pPr lvl="0">
              <a:buNone/>
            </a:pPr>
            <a:r>
              <a:rPr sz="1800" b="1"/>
              <a:t>Cross-Crew Separation</a:t>
            </a:r>
          </a:p>
          <a:p>
            <a:pPr lvl="0">
              <a:buNone/>
            </a:pPr>
            <a:r>
              <a:rPr sz="1800"/>
              <a:t>• Prevents hot sparks falling onto lower-deck chemical operations</a:t>
            </a:r>
          </a:p>
          <a:p>
            <a:pPr lvl="0">
              <a:buNone/>
            </a:pPr>
            <a:r>
              <a:rPr sz="1800"/>
              <a:t>• Maintains critical physical safety barriers between contractors</a:t>
            </a:r>
          </a:p>
          <a:p>
            <a:pPr lvl="0">
              <a:buNone/>
            </a:pPr>
            <a:r>
              <a:rPr sz="1800"/>
              <a:t>• Gives the control room real-time visibility over all plant jobs</a:t>
            </a:r>
          </a:p>
          <a:p>
            <a:pPr lvl="0">
              <a:buNone/>
            </a:pPr>
            <a:r>
              <a:rPr sz="1800" b="1"/>
              <a:t>Legal Accountability &amp; Compliance</a:t>
            </a:r>
          </a:p>
          <a:p>
            <a:pPr lvl="0">
              <a:buNone/>
            </a:pPr>
            <a:r>
              <a:rPr sz="1800" b="1"/>
              <a:t>Regulatory Defense</a:t>
            </a:r>
          </a:p>
          <a:p>
            <a:pPr lvl="0">
              <a:buNone/>
            </a:pPr>
            <a:r>
              <a:rPr sz="1800"/>
              <a:t>• Signed mutual agreement between operations and maintenance</a:t>
            </a:r>
          </a:p>
          <a:p>
            <a:pPr lvl="0">
              <a:buNone/>
            </a:pPr>
            <a:r>
              <a:rPr sz="1800"/>
              <a:t>• Every worker acknowledges hazards before touching equipment</a:t>
            </a:r>
          </a:p>
          <a:p>
            <a:pPr lvl="0">
              <a:buNone/>
            </a:pPr>
            <a:r>
              <a:rPr sz="1800"/>
              <a:t>• Provides an unalterable audit log for government &amp; safety audits</a:t>
            </a:r>
          </a:p>
          <a:p>
            <a:pPr lvl="0">
              <a:buNone/>
            </a:pPr>
            <a:r>
              <a:rPr sz="1800" b="1"/>
              <a:t>How Does the Application Flow End-to-End?</a:t>
            </a:r>
          </a:p>
          <a:p>
            <a:pPr lvl="0">
              <a:buNone/>
            </a:pPr>
            <a:r>
              <a:rPr sz="1800"/>
              <a:t>Operational stages from initial job request to final closeout and archival</a:t>
            </a:r>
          </a:p>
          <a:p>
            <a:pPr lvl="0">
              <a:buNone/>
            </a:pPr>
            <a:r>
              <a:rPr sz="1800" b="1"/>
              <a:t>Stage 1</a:t>
            </a:r>
          </a:p>
          <a:p>
            <a:pPr lvl="0">
              <a:buNone/>
            </a:pPr>
            <a:r>
              <a:rPr sz="1800" b="1"/>
              <a:t>Submit Request</a:t>
            </a:r>
          </a:p>
          <a:p>
            <a:pPr lvl="0">
              <a:buNone/>
            </a:pPr>
            <a:r>
              <a:rPr sz="1800"/>
              <a:t>Receiver fills permit form and attaches Job Safety Analysis (JSA).</a:t>
            </a:r>
          </a:p>
          <a:p>
            <a:pPr lvl="0">
              <a:buNone/>
            </a:pPr>
            <a:r>
              <a:rPr sz="1800" b="1"/>
              <a:t>Stage 2</a:t>
            </a:r>
          </a:p>
          <a:p>
            <a:pPr lvl="0">
              <a:buNone/>
            </a:pPr>
            <a:r>
              <a:rPr sz="1800" b="1"/>
              <a:t>Technical Review</a:t>
            </a:r>
          </a:p>
          <a:p>
            <a:pPr lvl="0">
              <a:buNone/>
            </a:pPr>
            <a:r>
              <a:rPr sz="1800"/>
              <a:t>Issuer inspects site, applies LOTO locks, and logs blind tags.</a:t>
            </a:r>
          </a:p>
          <a:p>
            <a:pPr lvl="0">
              <a:buNone/>
            </a:pPr>
            <a:r>
              <a:rPr sz="1800" b="1"/>
              <a:t>Stage 3</a:t>
            </a:r>
          </a:p>
          <a:p>
            <a:pPr lvl="0">
              <a:buNone/>
            </a:pPr>
            <a:r>
              <a:rPr sz="1800" b="1"/>
              <a:t>Clash &amp; Gas Check</a:t>
            </a:r>
          </a:p>
          <a:p>
            <a:pPr lvl="0">
              <a:buNone/>
            </a:pPr>
            <a:r>
              <a:rPr sz="1800"/>
              <a:t>PTW Coordinator resolves SIMOPS; gas tester certifies atmosphere.</a:t>
            </a:r>
          </a:p>
          <a:p>
            <a:pPr lvl="0">
              <a:buNone/>
            </a:pPr>
            <a:r>
              <a:rPr sz="1800" b="1"/>
              <a:t>Stage 4</a:t>
            </a:r>
          </a:p>
          <a:p>
            <a:pPr lvl="0">
              <a:buNone/>
            </a:pPr>
            <a:r>
              <a:rPr sz="1800" b="1"/>
              <a:t>Briefing &amp; Display</a:t>
            </a:r>
          </a:p>
          <a:p>
            <a:pPr lvl="0">
              <a:buNone/>
            </a:pPr>
            <a:r>
              <a:rPr sz="1800"/>
              <a:t>Hold Toolbox Talk (TBT), sign attendance, display in field box.</a:t>
            </a:r>
          </a:p>
          <a:p>
            <a:pPr lvl="0">
              <a:buNone/>
            </a:pPr>
            <a:r>
              <a:rPr sz="1800" b="1"/>
              <a:t>Stage 5</a:t>
            </a:r>
          </a:p>
          <a:p>
            <a:pPr lvl="0">
              <a:buNone/>
            </a:pPr>
            <a:r>
              <a:rPr sz="1800" b="1"/>
              <a:t>Execution &amp; Monitor</a:t>
            </a:r>
          </a:p>
          <a:p>
            <a:pPr lvl="0">
              <a:buNone/>
            </a:pPr>
            <a:r>
              <a:rPr sz="1800"/>
              <a:t>Active work commences under designated supervisor &amp; standby watch.</a:t>
            </a:r>
          </a:p>
          <a:p>
            <a:pPr lvl="0">
              <a:buNone/>
            </a:pPr>
            <a:r>
              <a:rPr sz="1800" b="1"/>
              <a:t>Stage 6</a:t>
            </a:r>
          </a:p>
          <a:p>
            <a:pPr lvl="0">
              <a:buNone/>
            </a:pPr>
            <a:r>
              <a:rPr sz="1800" b="1"/>
              <a:t>Housekeeping &amp; Close</a:t>
            </a:r>
          </a:p>
          <a:p>
            <a:pPr lvl="0">
              <a:buNone/>
            </a:pPr>
            <a:r>
              <a:rPr sz="1800"/>
              <a:t>Site cleaned, de-isolation verified, signatures logged, archived.</a:t>
            </a:r>
          </a:p>
          <a:p>
            <a:pPr lvl="0">
              <a:buNone/>
            </a:pPr>
            <a:r>
              <a:rPr sz="1800" b="1"/>
              <a:t>What Happens When Safety Incidents Occur?</a:t>
            </a:r>
          </a:p>
          <a:p>
            <a:pPr lvl="0">
              <a:buNone/>
            </a:pPr>
            <a:r>
              <a:rPr sz="1800"/>
              <a:t>Protocol for Simultaneous Operations (SIMOPS) and emergency incident response</a:t>
            </a:r>
          </a:p>
          <a:p>
            <a:pPr lvl="0">
              <a:buNone/>
            </a:pPr>
            <a:r>
              <a:rPr sz="1800" b="1"/>
              <a:t>SIMOPS (Simultaneous Operations)</a:t>
            </a:r>
          </a:p>
          <a:p>
            <a:pPr lvl="0">
              <a:buNone/>
            </a:pPr>
            <a:r>
              <a:rPr sz="1800" b="1"/>
              <a:t>Cross-Job Physical Clashes</a:t>
            </a:r>
          </a:p>
          <a:p>
            <a:pPr lvl="0">
              <a:buNone/>
            </a:pPr>
            <a:r>
              <a:rPr sz="1800"/>
              <a:t>• Vertical Conflicts: Hot sparks falling above fuel lines or lower crew</a:t>
            </a:r>
          </a:p>
          <a:p>
            <a:pPr lvl="0">
              <a:buNone/>
            </a:pPr>
            <a:r>
              <a:rPr sz="1800"/>
              <a:t>• Shared Utilities: Dual operations connecting to the same purge line</a:t>
            </a:r>
          </a:p>
          <a:p>
            <a:pPr lvl="0">
              <a:buNone/>
            </a:pPr>
            <a:r>
              <a:rPr sz="1800"/>
              <a:t>• Crane Overflights: Lifting heavy loads over active hydrocarbon piping</a:t>
            </a:r>
          </a:p>
          <a:p>
            <a:pPr lvl="0">
              <a:buNone/>
            </a:pPr>
            <a:r>
              <a:rPr sz="1800"/>
              <a:t>• Resolution Rule: Mandatory SIMOPS checklist &amp; scheduled shift separation</a:t>
            </a:r>
          </a:p>
          <a:p>
            <a:pPr lvl="0">
              <a:buNone/>
            </a:pPr>
            <a:r>
              <a:rPr sz="1800" b="1"/>
              <a:t>Emergency Incident Protocol</a:t>
            </a:r>
          </a:p>
          <a:p>
            <a:pPr lvl="0">
              <a:buNone/>
            </a:pPr>
            <a:r>
              <a:rPr sz="1800" b="1"/>
              <a:t>Immediate Stop &amp; Evacuation</a:t>
            </a:r>
          </a:p>
          <a:p>
            <a:pPr lvl="0">
              <a:buNone/>
            </a:pPr>
            <a:r>
              <a:rPr sz="1800"/>
              <a:t>• Stop Work Authority (SWA): Any worker has the right to halt work instantly</a:t>
            </a:r>
          </a:p>
          <a:p>
            <a:pPr lvl="0">
              <a:buNone/>
            </a:pPr>
            <a:r>
              <a:rPr sz="1800"/>
              <a:t>• Alarm Activation: Sirens sound -&gt; equipment shut down, crew musters</a:t>
            </a:r>
          </a:p>
          <a:p>
            <a:pPr lvl="0">
              <a:buNone/>
            </a:pPr>
            <a:r>
              <a:rPr sz="1800"/>
              <a:t>• Automatic Invalidation: All active permits in the area voided immediately</a:t>
            </a:r>
          </a:p>
          <a:p>
            <a:pPr lvl="0">
              <a:buNone/>
            </a:pPr>
            <a:r>
              <a:rPr sz="1800"/>
              <a:t>• Mandatory Reset: Root cause fixed, fresh gas test &amp; new permit issued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Copy">
  <a:themeElements>
    <a:clrScheme name="MarkCopy">
      <a:dk1>
        <a:sysClr val="windowText" lastClr="000000"/>
      </a:dk1>
      <a:lt1>
        <a:sysClr val="window" lastClr="FFFFFF"/>
      </a:lt1>
      <a:dk2>
        <a:srgbClr val="1F2328"/>
      </a:dk2>
      <a:lt2>
        <a:srgbClr val="D0D7DE"/>
      </a:lt2>
      <a:accent1>
        <a:srgbClr val="0969DA"/>
      </a:accent1>
      <a:accent2>
        <a:srgbClr val="CF222E"/>
      </a:accent2>
      <a:accent3>
        <a:srgbClr val="1A7F37"/>
      </a:accent3>
      <a:accent4>
        <a:srgbClr val="9A6700"/>
      </a:accent4>
      <a:accent5>
        <a:srgbClr val="8250DF"/>
      </a:accent5>
      <a:accent6>
        <a:srgbClr val="BF3989"/>
      </a:accent6>
      <a:hlink>
        <a:srgbClr val="0969DA"/>
      </a:hlink>
      <a:folHlink>
        <a:srgbClr val="8250DF"/>
      </a:folHlink>
    </a:clrScheme>
    <a:fontScheme name="MarkCopy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arkCopy">
      <a:fillStyleLst>
        <a:solidFill>
          <a:schemeClr val="phClr"/>
        </a:solidFill>
        <a:solidFill>
          <a:schemeClr val="phClr">
            <a:lumMod val="110000"/>
          </a:schemeClr>
        </a:solidFill>
        <a:solidFill>
          <a:schemeClr val="phClr">
            <a:lumMod val="10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105000"/>
          </a:schemeClr>
        </a:solidFill>
        <a:solidFill>
          <a:schemeClr val="phClr">
            <a:lumMod val="102000"/>
          </a:schemeClr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Permit_to_Work_PTW_Summary.pptx</dc:title>
  <dc:creator>MarkCopy</dc:creator>
  <cp:lastModifiedBy>MarkCopy</cp:lastModifiedBy>
  <dcterms:created xsi:type="dcterms:W3CDTF">2026-09-18T07:17:54Z</dcterms:created>
  <dcterms:modified xsi:type="dcterms:W3CDTF">2026-09-18T07:17:54Z</dcterms:modified>
</cp:coreProperties>
</file>